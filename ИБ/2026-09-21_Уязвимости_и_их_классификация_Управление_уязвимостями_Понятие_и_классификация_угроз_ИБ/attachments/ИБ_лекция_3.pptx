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74" r:id="rId4"/>
    <p:sldId id="272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8" r:id="rId28"/>
    <p:sldId id="297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270" r:id="rId5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улюков Рустем Ирекович" initials="МРИ" lastIdx="1" clrIdx="0">
    <p:extLst>
      <p:ext uri="{19B8F6BF-5375-455C-9EA6-DF929625EA0E}">
        <p15:presenceInfo xmlns:p15="http://schemas.microsoft.com/office/powerpoint/2012/main" userId="Мулюков Рустем Ирек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CC11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737" autoAdjust="0"/>
  </p:normalViewPr>
  <p:slideViewPr>
    <p:cSldViewPr>
      <p:cViewPr varScale="1">
        <p:scale>
          <a:sx n="136" d="100"/>
          <a:sy n="136" d="100"/>
        </p:scale>
        <p:origin x="828" y="1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1BDCD-EBE6-4678-8413-13BFAA387E1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570D4-9143-4E91-8959-8D963457B7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63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Шрифт: </a:t>
            </a:r>
            <a:r>
              <a:rPr lang="en-US" dirty="0"/>
              <a:t>PT Sans Caption 20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49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16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789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869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981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627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716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252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452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875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531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026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464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412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365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516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3362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915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126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0309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410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9696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456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6537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9079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835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7533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9634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1208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2632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3982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3402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5228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8217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3191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9238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6663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4070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2420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3080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5319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8467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5837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0961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5654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9404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65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4955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5884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9927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671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IMuljukov@kpfu.r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vedetails.com/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nvd.nist.gov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10" Type="http://schemas.openxmlformats.org/officeDocument/2006/relationships/hyperlink" Target="https://bdu.fstec.ru/threat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vuldb.com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9732FE-DEE9-D328-81B8-A59F2E95793F}"/>
              </a:ext>
            </a:extLst>
          </p:cNvPr>
          <p:cNvSpPr/>
          <p:nvPr/>
        </p:nvSpPr>
        <p:spPr>
          <a:xfrm>
            <a:off x="0" y="-236562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403648" y="237266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100"/>
            </a:pPr>
            <a:r>
              <a:rPr lang="ru-RU" sz="2000" cap="all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ИНФОРМАЦИОННАЯ БЕЗОПАСНОСТЬ</a:t>
            </a:r>
          </a:p>
          <a:p>
            <a:pPr lvl="0" algn="ctr">
              <a:buClr>
                <a:srgbClr val="000000"/>
              </a:buClr>
              <a:buSzPts val="1100"/>
            </a:pPr>
            <a:r>
              <a:rPr lang="ru-RU" sz="2000" cap="all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Лекция 3.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>
            <a:off x="2339753" y="2058086"/>
            <a:ext cx="4464495" cy="0"/>
          </a:xfrm>
          <a:prstGeom prst="line">
            <a:avLst/>
          </a:prstGeom>
          <a:ln w="12700">
            <a:solidFill>
              <a:srgbClr val="0054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A39671-8D5C-4FE5-AD70-BBC56ADC4F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823" y="133094"/>
            <a:ext cx="1043052" cy="186259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F03C67-1676-4924-9445-BB161D100B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126" y="483518"/>
            <a:ext cx="3000025" cy="122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4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5721D61-F105-393D-B39B-6269E0DA8ACF}"/>
              </a:ext>
            </a:extLst>
          </p:cNvPr>
          <p:cNvSpPr/>
          <p:nvPr/>
        </p:nvSpPr>
        <p:spPr>
          <a:xfrm>
            <a:off x="5796135" y="0"/>
            <a:ext cx="3347865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51520" y="1994628"/>
            <a:ext cx="5256584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cap="all" dirty="0">
                <a:solidFill>
                  <a:schemeClr val="bg1">
                    <a:lumMod val="50000"/>
                  </a:schemeClr>
                </a:solidFill>
                <a:latin typeface="PT Sans Caption" panose="020B0603020203020204" pitchFamily="34" charset="0"/>
              </a:rPr>
              <a:t>Информационная безопасность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PT Sans Caption" panose="020B0603020203020204" pitchFamily="34" charset="0"/>
              </a:rPr>
              <a:t>Уязвимости и их классификация.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PT Sans Caption" panose="020B0603020203020204" pitchFamily="34" charset="0"/>
              </a:rPr>
              <a:t>Угрозы. Классификация угроз.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PT Sans Caption" panose="020B0603020203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0152" y="2570009"/>
            <a:ext cx="26701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к.т.н. доцент ИТИС</a:t>
            </a:r>
          </a:p>
          <a:p>
            <a:r>
              <a:rPr lang="ru-RU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начальник отдела, ДИС</a:t>
            </a:r>
          </a:p>
          <a:p>
            <a:endParaRPr lang="ru-RU" sz="1200" dirty="0">
              <a:solidFill>
                <a:schemeClr val="accent5">
                  <a:lumMod val="60000"/>
                  <a:lumOff val="40000"/>
                </a:schemeClr>
              </a:solidFill>
              <a:latin typeface="PT Sans" panose="020B0503020203020204" pitchFamily="34" charset="-52"/>
            </a:endParaRPr>
          </a:p>
          <a:p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RIMuljukov@kpfu.ru</a:t>
            </a:r>
            <a:endParaRPr lang="ru-RU" sz="1200" dirty="0">
              <a:solidFill>
                <a:schemeClr val="accent5">
                  <a:lumMod val="60000"/>
                  <a:lumOff val="40000"/>
                </a:schemeClr>
              </a:solidFill>
              <a:latin typeface="PT Sans" panose="020B0503020203020204" pitchFamily="34" charset="-52"/>
            </a:endParaRPr>
          </a:p>
          <a:p>
            <a:r>
              <a:rPr lang="ru-RU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+7 </a:t>
            </a: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9272437827</a:t>
            </a:r>
            <a:endParaRPr lang="ru-RU" sz="1200" dirty="0">
              <a:solidFill>
                <a:schemeClr val="accent5">
                  <a:lumMod val="60000"/>
                  <a:lumOff val="4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99288A-28EA-4333-A305-E315C8C40F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65520"/>
            <a:ext cx="1837357" cy="351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8AFAC4-B2D5-2DBB-D8EF-09E8A08D5593}"/>
              </a:ext>
            </a:extLst>
          </p:cNvPr>
          <p:cNvSpPr txBox="1"/>
          <p:nvPr/>
        </p:nvSpPr>
        <p:spPr>
          <a:xfrm>
            <a:off x="5940152" y="1923678"/>
            <a:ext cx="23817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Мулюков</a:t>
            </a:r>
          </a:p>
          <a:p>
            <a:r>
              <a:rPr lang="ru-R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Рустем Ирекович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12AB575-7C72-454E-BB40-D194FBE85258}"/>
              </a:ext>
            </a:extLst>
          </p:cNvPr>
          <p:cNvSpPr/>
          <p:nvPr/>
        </p:nvSpPr>
        <p:spPr>
          <a:xfrm>
            <a:off x="8172400" y="0"/>
            <a:ext cx="971600" cy="5143500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D26BF2-5AE2-4403-971E-3EB8213263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36" y="339502"/>
            <a:ext cx="432928" cy="90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43708" y="2005611"/>
            <a:ext cx="52565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PT Sans Caption" panose="020B0603020203020204" pitchFamily="34" charset="0"/>
              </a:rPr>
              <a:t>Уязвимости и их классификация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99288A-28EA-4333-A305-E315C8C40F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65520"/>
            <a:ext cx="1837357" cy="3513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D26BF2-5AE2-4403-971E-3EB8213263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36" y="339502"/>
            <a:ext cx="432928" cy="900819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0CEE494-3E3F-4C34-B2EE-7196B554A77B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Picture 4" descr="C:\Users\MSShafigullin\Desktop\Проекты\Презентация по ДК\qs.jpg">
            <a:extLst>
              <a:ext uri="{FF2B5EF4-FFF2-40B4-BE49-F238E27FC236}">
                <a16:creationId xmlns:a16="http://schemas.microsoft.com/office/drawing/2014/main" id="{3DD663D4-7B03-4ADD-8289-A1D3221EE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:\Users\MSShafigullin\Desktop\2020\Презентация КФУ\THE.png">
            <a:extLst>
              <a:ext uri="{FF2B5EF4-FFF2-40B4-BE49-F238E27FC236}">
                <a16:creationId xmlns:a16="http://schemas.microsoft.com/office/drawing/2014/main" id="{E716717D-ECEE-4567-A124-3BA1FECEC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1A7A06-F916-4342-AB37-D91215B9C3A4}"/>
              </a:ext>
            </a:extLst>
          </p:cNvPr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1841E-A1EA-4924-8F4A-A9C0E2FE69AC}"/>
              </a:ext>
            </a:extLst>
          </p:cNvPr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DE37157-1181-44D7-896E-96F540AD0D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DF749B-F665-4EF6-AD59-3F5B3E471E0A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6F0B16C-78C8-4C13-9BE3-7E765FA231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05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Уязвимость —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это недостаток или слабое место в информационной системе, её проектировании, реализации, конфигурации или эксплуатации, которое может быть использовано для реализации угрозы безопасности и нанесения ущерба информационным активам.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Понимание уязвимостей является фундаментальным для построения эффективной системы защиты, поскольку именно через них реализуются атаки. Чем больше уязвимостей присутствует в системе, тем выше вероятность успешной атаки.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2574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Понятие уязвимости</a:t>
            </a:r>
          </a:p>
        </p:txBody>
      </p:sp>
    </p:spTree>
    <p:extLst>
      <p:ext uri="{BB962C8B-B14F-4D97-AF65-F5344CB8AC3E}">
        <p14:creationId xmlns:p14="http://schemas.microsoft.com/office/powerpoint/2010/main" val="194872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Ключевая особенность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Сама по себе уязвимость не причиняет вреда — она представляет собой потенциальную возможность. Ущерб возникает только тогда, когда уязвимость используется злоумышленником для проведения атаки.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2574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Понятие уязвимости</a:t>
            </a:r>
          </a:p>
        </p:txBody>
      </p:sp>
    </p:spTree>
    <p:extLst>
      <p:ext uri="{BB962C8B-B14F-4D97-AF65-F5344CB8AC3E}">
        <p14:creationId xmlns:p14="http://schemas.microsoft.com/office/powerpoint/2010/main" val="51109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266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Понимание жизненного цикла уязвимости критически важно для специалиста по информационной безопасности: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Возникновение: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Уязвимость появляется на этапе проектирования, разработки, конфигурации или эксплуатации системы.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Обнаружение: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Уязвимость может быть найдена разработчиками, исследователями безопасности, случайными пользователями или злоумышленниками.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Жизненный цикл уязвимости</a:t>
            </a:r>
          </a:p>
        </p:txBody>
      </p:sp>
    </p:spTree>
    <p:extLst>
      <p:ext uri="{BB962C8B-B14F-4D97-AF65-F5344CB8AC3E}">
        <p14:creationId xmlns:p14="http://schemas.microsoft.com/office/powerpoint/2010/main" val="2854660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266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Раскрытие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Disclosure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Информация об уязвимости становится известной.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Full </a:t>
            </a:r>
            <a:r>
              <a:rPr lang="ru-RU" sz="20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disclosure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Публичное раскрытие с деталями.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Responsible</a:t>
            </a: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disclosure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Уведомление разработчика до публикации.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Zero-</a:t>
            </a:r>
            <a:r>
              <a:rPr lang="ru-RU" sz="20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day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Уязвимость, о которой не знает разработчик и для которой не существует исправления.</a:t>
            </a:r>
          </a:p>
          <a:p>
            <a:pPr marL="457200" indent="-457200">
              <a:buFont typeface="+mj-lt"/>
              <a:buAutoNum type="arabicPeriod" startAt="3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Жизненный цикл уязвимости</a:t>
            </a:r>
          </a:p>
        </p:txBody>
      </p:sp>
    </p:spTree>
    <p:extLst>
      <p:ext uri="{BB962C8B-B14F-4D97-AF65-F5344CB8AC3E}">
        <p14:creationId xmlns:p14="http://schemas.microsoft.com/office/powerpoint/2010/main" val="274056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266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Эксплуатация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Exploitation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Создание программного кода (эксплойта), использующего уязвимость.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 startAt="4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Патчинг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(Исправление):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Разработчик выпускает обновление, устраняющее уязвимость.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 startAt="4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Установка обновления: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Администраторы устанавливают патч, уязвимость устраняется.</a:t>
            </a:r>
          </a:p>
          <a:p>
            <a:pPr marL="457200" indent="-457200">
              <a:buFont typeface="+mj-lt"/>
              <a:buAutoNum type="arabicPeriod" startAt="4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Жизненный цикл уязвимости</a:t>
            </a:r>
          </a:p>
        </p:txBody>
      </p:sp>
    </p:spTree>
    <p:extLst>
      <p:ext uri="{BB962C8B-B14F-4D97-AF65-F5344CB8AC3E}">
        <p14:creationId xmlns:p14="http://schemas.microsoft.com/office/powerpoint/2010/main" val="2995410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26647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Уязвимости могут быть классифицированы по различным признакам. Рассмотрим основные классификации.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А. По природе возникновения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1. Программные уязвимости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Недостатки, возникающие на этапе разработки программного обеспечения: ошибки кодирования, недостаточная проверка входных данных, логические ошибки.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197711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1: Переполнение буфера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Buffer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Overflow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Программа записывает в выделенный участок памяти больше данных, чем может вместить этот участок. Избыточные данные перезаписывают соседние области памяти, что может привести к аварийному завершению или выполнению вредоносного кода.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Реальный случай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Знаменитый червь Morris (1988) использовал переполнение буфера в сервисе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finger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для распространения.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2153537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2: SQL-инъекция (SQL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Injection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Приложение не фильтрует должным образом данные, вводимые пользователем, и передаёт их напрямую в SQL-запрос к базе данных.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кода (уязвимого):</a:t>
            </a:r>
          </a:p>
          <a:p>
            <a:r>
              <a:rPr lang="ru-R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sql</a:t>
            </a: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  <a:ea typeface="PT Sans" panose="020B0503020203020204" pitchFamily="34" charset="-52"/>
              <a:cs typeface="Arial" panose="020B0604020202020204" pitchFamily="34" charset="0"/>
            </a:endParaRP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-- Вместо простого поиска пользователя</a:t>
            </a: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SELECT * FROM </a:t>
            </a:r>
            <a:r>
              <a:rPr lang="ru-R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users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 WHERE </a:t>
            </a:r>
            <a:r>
              <a:rPr lang="ru-R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login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 = '</a:t>
            </a:r>
            <a:r>
              <a:rPr lang="ru-R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введенный_логин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'</a:t>
            </a:r>
          </a:p>
          <a:p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  <a:ea typeface="PT Sans" panose="020B0503020203020204" pitchFamily="34" charset="-52"/>
              <a:cs typeface="Arial" panose="020B0604020202020204" pitchFamily="34" charset="0"/>
            </a:endParaRP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-- Злоумышленник вводит: ' OR '1'='1</a:t>
            </a: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-- Запрос превращается в:</a:t>
            </a: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SELECT * FROM </a:t>
            </a:r>
            <a:r>
              <a:rPr lang="ru-R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users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 WHERE </a:t>
            </a:r>
            <a:r>
              <a:rPr lang="ru-RU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login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 = '' OR '1'='1'</a:t>
            </a: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ea typeface="PT Sans" panose="020B0503020203020204" pitchFamily="34" charset="-52"/>
                <a:cs typeface="Arial" panose="020B0604020202020204" pitchFamily="34" charset="0"/>
              </a:rPr>
              <a:t>-- Что вернёт всех пользователей системы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578619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3: Межсайтовый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скриптинг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(Cross-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Site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Scripting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XSS)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Злоумышленник внедряет вредоносный JavaScript-код на веб-страницу, который выполняется в браузере других пользователей.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Комментарий на форуме содержит не просто текст, а скрипт, крадущий куки-файлы сессии посетителей страницы.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3158107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2. Аппаратные уязвимости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Недостатки, связанные с архитектурой или производством аппаратного обеспечения.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1: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Meltdown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и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Spectre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(2018)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Уязвимости в архитектуре процессоров Intel, ARM и AMD, связанные со спекулятивным выполнением команд. Позволяли программам читать защищённую память ядра и других процессов.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Особенность: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Это аппаратные уязвимости, которые сложно полностью исправить программным путём — исправления приводили к снижению производительности процессоров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1209973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2: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Rowhammer</a:t>
            </a: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Уязвимость в модулях оперативной памяти (DRAM), где многократное обращение к одним ячейкам памяти вызывало изменение соседних ячеек из-за электромагнитного воздействия.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2573332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3. Конфигурационные уязвимости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Недостатки, возникающие из-за некорректной настройки операционных систем, приложений или сетевого оборудования.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1: Слабые пароли по умолчанию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Оборудование поставляется с предустановленными логинами и паролями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admin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/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admin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root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/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root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), которые администратор не меняет при вводе в эксплуатацию.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Реальный случай: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Ботнет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Mirai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(2016) заражал устройства интернета вещей (IP-камеры, роутеры), перебирая стандартные пароли по умолчанию.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1551156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2: Открытые порты и сервисы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 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Запущены ненужные сетевые службы с открытыми портами, доступными извне.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Сервер базы данных MySQL, слушающий на всех сетевых интерфейсах (0.0.0.0:3306) и доступный из интернета, хотя должен быть доступен только локально.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3: Избыточные права доступа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Пользователям или процессам предоставлено больше прав, чем необходимо для выполнения их функций (нарушение принципа минимальных привилегий).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Сотрудник бухгалтерии имеет права администратора на своей рабочей станции, что позволяет вредоносному ПО, запущенному от его имени, получить полный контроль над системой.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3779634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Организационные (человеческие) уязвимости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Недостатки в процессах, процедурах, политиках безопасности и поведении персонала.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1: Недостаточная осведомлённость (Social Engineering)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Сотрудники не обучены распознавать фишинговые письма и методы социальной инженерии.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Сотрудник получает письмо от «руководства» с просьбой срочно перевести деньги и выполняет её без дополнительной проверки.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224828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2: Нарушение правил обращения с документами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Оставление конфиденциальных документов на рабочем столе, запись паролей на стикерах, приклеенных к монитору.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3: Отсутствие процедур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Нет регламента увольнения сотрудников, и учётная запись уволенного остаётся активной, создавая риск несанкционированного доступа.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271191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Б. По расположению относительно защищаемой системы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Внутренние уязвимости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Находятся внутри системы или контролируемой зоны.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ошибки в конфигурации внутреннего сервера, уязвимости в корпоративном ПО.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Внешние уязвимости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Находятся за пределами контролируемой зоны, но влияют на безопасность системы. </a:t>
            </a: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уязвимости в сторонних сервисах (CDN, облачные провайдеры), используемых системой, или особенности инфраструктуры интернета (BGP-хищения).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187003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В. По степени опасности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Классификация по шкале CVSS (Common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Vulnerability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Scoring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System):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Низкая опасность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Low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0.1–3.9 балла. Труднодоступны для эксплуатации или приводят к незначительному ущербу.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Средняя опасность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Medium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4.0–6.9 балла. Требуют определённых условий для эксплуатации, ущерб ограничен.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Высокая опасность (High):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7.0–8.9 балла. Легко эксплуатируются и приводят к серьёзному ущербу.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Критическая опасность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Critical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9.0–10.0 балла. Максимальная угроза — удалённое выполнение кода без аутентификации, полная компрометация системы.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3910318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Наиболее распространённой системой идентификации и классификации уязвимостей является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CVE (Common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Vulnerabilities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and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Exposures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— словарь общеизвестных уязвимостей.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Каждая уязвимость получает уникальный идентификатор формата: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CVE-Год-Номер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 CVE-2021-44228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(Log4Shell)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Критическая уязвимость в библиотеке Log4j для Java, позволявшая выполнить произвольный код на сервере через специально сформированную строку логирования.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Влияние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Затронула миллионы приложений по всему миру (включая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Minecraft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iCloud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Steam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Оценка CVSS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10.0 (критическая).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4431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по методологии </a:t>
            </a:r>
            <a:r>
              <a:rPr lang="en-US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CVE</a:t>
            </a:r>
            <a:endParaRPr lang="ru-RU" dirty="0">
              <a:solidFill>
                <a:srgbClr val="00549F"/>
              </a:solidFill>
              <a:latin typeface="PT Sans Caption" panose="020B0603020203020204" pitchFamily="34" charset="-52"/>
              <a:ea typeface="PT Sans Caption" panose="020B06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32763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CVE-2017-0144 (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EternalBlue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Уязвимость в протоколе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SMB (Server Message Block) Windows,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позволяющая удалённо выполнить код.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Влияние: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Использовалась вирусами-шифровальщиками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WannaCry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NotPetya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для массового заражения.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4431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по методологии </a:t>
            </a:r>
            <a:r>
              <a:rPr lang="en-US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CVE</a:t>
            </a:r>
            <a:endParaRPr lang="ru-RU" dirty="0">
              <a:solidFill>
                <a:srgbClr val="00549F"/>
              </a:solidFill>
              <a:latin typeface="PT Sans Caption" panose="020B0603020203020204" pitchFamily="34" charset="-52"/>
              <a:ea typeface="PT Sans Caption" panose="020B06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09292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Для отслеживания и анализа уязвимостей существуют специализированные базы данных: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National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Vulnerability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Database (NVD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  <a:hlinkClick r:id="rId7"/>
              </a:rPr>
              <a:t>https://nvd.nist.gov/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Американская база данных, интегрированная с CVE и содержащая детальную информацию, оценки CVSS, ссылки на патчи.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CVE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Details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  <a:hlinkClick r:id="rId8"/>
              </a:rPr>
              <a:t>https://www.cvedetails.com/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Сайт с удобным поиском и статистикой по уязвимостям (заблокирован).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VulDB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  <a:hlinkClick r:id="rId9"/>
              </a:rPr>
              <a:t>https://vuldb.com/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Независимая база данных уязвимостей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Банк данных угроз безопасности информации ФСТЭК России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  <a:hlinkClick r:id="rId10"/>
              </a:rPr>
              <a:t>https://bdu.fstec.ru/threat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Отечественная база уязвимостей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236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Базы данных уязвимостей</a:t>
            </a:r>
          </a:p>
        </p:txBody>
      </p:sp>
    </p:spTree>
    <p:extLst>
      <p:ext uri="{BB962C8B-B14F-4D97-AF65-F5344CB8AC3E}">
        <p14:creationId xmlns:p14="http://schemas.microsoft.com/office/powerpoint/2010/main" val="3445848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Обнаружение и классификация уязвимостей — лишь часть работы. Необходим системный процесс управления уязвимостями: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Идентификация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Регулярное сканирование активов с помощью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сканеров уязвимостей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Nessus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OpenVAS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Qualys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MaxPatrol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 — подробнее далее.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Оценка и приоритизация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Анализ выявленных уязвимостей с учётом их критичности (CVSS), контекста системы и ценности актива. Не все уязвимости одинаково опасны в конкретной среде.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0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Управление уязвимостями (</a:t>
            </a:r>
            <a:r>
              <a:rPr lang="en-US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Vulnerability Management)</a:t>
            </a:r>
            <a:endParaRPr lang="ru-RU" dirty="0">
              <a:solidFill>
                <a:srgbClr val="00549F"/>
              </a:solidFill>
              <a:latin typeface="PT Sans Caption" panose="020B0603020203020204" pitchFamily="34" charset="-52"/>
              <a:ea typeface="PT Sans Caption" panose="020B06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92247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Устранение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Патчинг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Установка обновлений от производителя.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Компенсирующие меры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Если патч недоступен, применяются временные меры (например, блокировка на межсетевом экране, изменение конфигурации).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Принятие риска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Если уязвимость неустранима и риск считается приемлемым.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Верификация: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Проверка, что уязвимость действительно устранена.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0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Управление уязвимостями (</a:t>
            </a:r>
            <a:r>
              <a:rPr lang="en-US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Vulnerability Management)</a:t>
            </a:r>
            <a:endParaRPr lang="ru-RU" dirty="0">
              <a:solidFill>
                <a:srgbClr val="00549F"/>
              </a:solidFill>
              <a:latin typeface="PT Sans Caption" panose="020B0603020203020204" pitchFamily="34" charset="-52"/>
              <a:ea typeface="PT Sans Caption" panose="020B06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01187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Уязвимости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7644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Практический пример: Управление уязвимостью в организации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8EF09A98-ED6F-4C74-9336-1A05FD499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776543"/>
              </p:ext>
            </p:extLst>
          </p:nvPr>
        </p:nvGraphicFramePr>
        <p:xfrm>
          <a:off x="466203" y="1688061"/>
          <a:ext cx="7488832" cy="3420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3427">
                  <a:extLst>
                    <a:ext uri="{9D8B030D-6E8A-4147-A177-3AD203B41FA5}">
                      <a16:colId xmlns:a16="http://schemas.microsoft.com/office/drawing/2014/main" val="4281443789"/>
                    </a:ext>
                  </a:extLst>
                </a:gridCol>
                <a:gridCol w="5785405">
                  <a:extLst>
                    <a:ext uri="{9D8B030D-6E8A-4147-A177-3AD203B41FA5}">
                      <a16:colId xmlns:a16="http://schemas.microsoft.com/office/drawing/2014/main" val="1012990900"/>
                    </a:ext>
                  </a:extLst>
                </a:gridCol>
              </a:tblGrid>
              <a:tr h="338472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Этап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8175" marT="73859" marB="73859" anchor="ctr"/>
                </a:tc>
                <a:tc>
                  <a:txBody>
                    <a:bodyPr/>
                    <a:lstStyle/>
                    <a:p>
                      <a:pPr marL="11303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Действие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75" marR="118175" marT="73859" marB="73859" anchor="ctr"/>
                </a:tc>
                <a:extLst>
                  <a:ext uri="{0D108BD9-81ED-4DB2-BD59-A6C34878D82A}">
                    <a16:rowId xmlns:a16="http://schemas.microsoft.com/office/drawing/2014/main" val="4059345021"/>
                  </a:ext>
                </a:extLst>
              </a:tr>
              <a:tr h="56835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Идентификация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8175" marT="73859" marB="73859" anchor="ctr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Сканирование показало наличие уязвимой версии библиотеки Log4j (версия 2.14.0) на публичном веб-сервере.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75" marR="0" marT="73859" marB="73859" anchor="ctr"/>
                </a:tc>
                <a:extLst>
                  <a:ext uri="{0D108BD9-81ED-4DB2-BD59-A6C34878D82A}">
                    <a16:rowId xmlns:a16="http://schemas.microsoft.com/office/drawing/2014/main" val="3941819759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Оценка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8175" marT="73859" marB="73859" anchor="ctr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Уязвимость имеет CVSS 10.0 (критическая), сервер доступен из интернета — риск максимальный. Требуется немедленное вмешательство.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75" marR="0" marT="73859" marB="73859" anchor="ctr"/>
                </a:tc>
                <a:extLst>
                  <a:ext uri="{0D108BD9-81ED-4DB2-BD59-A6C34878D82A}">
                    <a16:rowId xmlns:a16="http://schemas.microsoft.com/office/drawing/2014/main" val="186730621"/>
                  </a:ext>
                </a:extLst>
              </a:tr>
              <a:tr h="63865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Устранение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8175" marT="73859" marB="73859" anchor="ctr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1. Немедленно обновить библиотеку до версии 2.17.0 (патч).</a:t>
                      </a:r>
                      <a:br>
                        <a:rPr lang="ru-RU" sz="1600" dirty="0">
                          <a:effectLst/>
                        </a:rPr>
                      </a:br>
                      <a:r>
                        <a:rPr lang="ru-RU" sz="1600" dirty="0">
                          <a:effectLst/>
                        </a:rPr>
                        <a:t>2. Как временная мера — настроить межсетевой экран на блокировку подозрительных запросов.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75" marR="0" marT="73859" marB="73859" anchor="ctr"/>
                </a:tc>
                <a:extLst>
                  <a:ext uri="{0D108BD9-81ED-4DB2-BD59-A6C34878D82A}">
                    <a16:rowId xmlns:a16="http://schemas.microsoft.com/office/drawing/2014/main" val="4245356840"/>
                  </a:ext>
                </a:extLst>
              </a:tr>
              <a:tr h="55118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Верификация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8175" marT="73859" marB="73859" anchor="ctr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Повторное сканирование подтверждает, что уязвимость устранена — библиотека обновлена.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175" marR="0" marT="73859" marB="73859" anchor="ctr"/>
                </a:tc>
                <a:extLst>
                  <a:ext uri="{0D108BD9-81ED-4DB2-BD59-A6C34878D82A}">
                    <a16:rowId xmlns:a16="http://schemas.microsoft.com/office/drawing/2014/main" val="68694350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50A3A9B-9EDF-474B-A8B4-60BDE9040125}"/>
              </a:ext>
            </a:extLst>
          </p:cNvPr>
          <p:cNvSpPr txBox="1"/>
          <p:nvPr/>
        </p:nvSpPr>
        <p:spPr>
          <a:xfrm>
            <a:off x="415738" y="1160544"/>
            <a:ext cx="7488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Ситуация:</a:t>
            </a:r>
            <a:r>
              <a:rPr lang="ru-R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Сканер уязвимостей обнаружил на веб-сервере компании наличие CVE-2021-44228 (Log4Shell).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213727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43708" y="2005611"/>
            <a:ext cx="52565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PT Sans Caption" panose="020B0603020203020204" pitchFamily="34" charset="0"/>
              </a:rPr>
              <a:t>Угрозы и их классификация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99288A-28EA-4333-A305-E315C8C40F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65520"/>
            <a:ext cx="1837357" cy="3513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D26BF2-5AE2-4403-971E-3EB8213263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36" y="339502"/>
            <a:ext cx="432928" cy="900819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0CEE494-3E3F-4C34-B2EE-7196B554A77B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Picture 4" descr="C:\Users\MSShafigullin\Desktop\Проекты\Презентация по ДК\qs.jpg">
            <a:extLst>
              <a:ext uri="{FF2B5EF4-FFF2-40B4-BE49-F238E27FC236}">
                <a16:creationId xmlns:a16="http://schemas.microsoft.com/office/drawing/2014/main" id="{3DD663D4-7B03-4ADD-8289-A1D3221EE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:\Users\MSShafigullin\Desktop\2020\Презентация КФУ\THE.png">
            <a:extLst>
              <a:ext uri="{FF2B5EF4-FFF2-40B4-BE49-F238E27FC236}">
                <a16:creationId xmlns:a16="http://schemas.microsoft.com/office/drawing/2014/main" id="{E716717D-ECEE-4567-A124-3BA1FECEC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1A7A06-F916-4342-AB37-D91215B9C3A4}"/>
              </a:ext>
            </a:extLst>
          </p:cNvPr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1841E-A1EA-4924-8F4A-A9C0E2FE69AC}"/>
              </a:ext>
            </a:extLst>
          </p:cNvPr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DE37157-1181-44D7-896E-96F540AD0D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DF749B-F665-4EF6-AD59-3F5B3E471E0A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6F0B16C-78C8-4C13-9BE3-7E765FA231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65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Угроза информационной безопасности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— это совокупность условий и факторов, создающих потенциальную или реально существующую опасность нарушения конфиденциальности, целостности, доступности информации или других компонентов информационной системы.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Иными словами, угроза — </a:t>
            </a: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это то, что может произойти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 информационной системой и привести к нежелательным последствиям. Угроза всегда направлена на конкретные информационные активы и реализуется через использование уязвимостей.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587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Понятие угрозы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4068483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Взаимосвязь понятий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Уязвимость (слабое место) + Угроза (потенциальное действие) = Риск (вероятность ущерба).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Реализованная угроза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— это уже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инцидент информационной безопасности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или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атака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587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Понятие угрозы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132177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Угрозы могут быть классифицированы по множеству признаков. Рассмотрим основные классификации.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А. По природе возникновения</a:t>
            </a:r>
          </a:p>
          <a:p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Естественные (объективные) угрозы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Угрозы, вызванные воздействием объективных физических процессов или стихийных природных явлений, не зависящих от воли человека.</a:t>
            </a:r>
          </a:p>
          <a:p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1322134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1: Природные катаклизмы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Наводнения, землетрясения, ураганы, пожары от ударов молний.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Последствия: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Физическое разрушение дата-центров, серверных помещений, линий связи. Нарушение доступности информации.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Наводнение в Таиланде (2011) затопило заводы по производству жёстких дисков, вызвав глобальный дефицит и рост цен на накопители.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2: Техногенные аварии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Отключение электроэнергии, аварии систем водоснабжения или охлаждения, пожары из-за неисправности электропроводки.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Последствия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Выход из строя оборудования, потеря данных, нарушение доступности.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3072750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 startAt="2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Искусственные (субъективные) угрозы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Угрозы, вызванные деятельностью человека. Подразделяются на: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А) Непреднамеренные (случайные) угрозы: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Ошибки или действия, совершаемые без злого умысла.</a:t>
            </a: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1: Ошибки персонала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Сотрудник случайно удалил важный файл, неправильно сконфигурировал сетевое оборудование, отправил конфиденциальное письмо не тому адресату.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Последствия: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Нарушение целостности и доступности, утечка данных.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Статистика: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 данным различных исследований, до 60-70% инцидентов ИБ связаны с человеческим фактором и непреднамеренными ошибками.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546640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2: Халатность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Использование слабых паролей, запись паролей на стикерах, оставление рабочей станции без блокировки, подключение непроверенных USB-носителей.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Последствия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Создание благоприятных условий для реализации других угроз.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3: Ошибки в ПО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Сбои в работе программного обеспечения из-за ошибок разработчиков.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Последствия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Повреждение данных, нарушение доступности, появление уязвимостей.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2733405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Б) Преднамеренные (умышленные) угрозы: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Действия злоумышленников, направленные на нарушение информационной безопасности.</a:t>
            </a:r>
          </a:p>
          <a:p>
            <a:pPr>
              <a:spcBef>
                <a:spcPts val="600"/>
              </a:spcBef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1: Компьютерные атаки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Целенаправленные действия хакеров, хакерских группировок.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Последствия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Кража данных, нарушение работы сервисов, шифрование информации с требованием выкупа.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3145781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2: Промышленный шпионаж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Деятельность конкурентов или спецслужб по хищению коммерческой или государственной тайны.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Кража технологий производства, баз данных клиентов, исходных кодов ПО.</a:t>
            </a:r>
          </a:p>
          <a:p>
            <a:pPr>
              <a:spcBef>
                <a:spcPts val="600"/>
              </a:spcBef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3: Инсайдерские угрозы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Описание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Действия сотрудников организации, имеющих легальный доступ к информации, но использующих его во вред.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Недовольный сотрудник перед увольнением копирует базу клиентов или удаляет важные данные.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11786384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Б. По направленности (по отношению к триаде CIA)</a:t>
            </a:r>
          </a:p>
          <a:p>
            <a:pPr>
              <a:spcBef>
                <a:spcPts val="600"/>
              </a:spcBef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1. Угрозы конфиденциальности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Направлены на несанкционированное получение доступа к информации.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Перехват данных</a:t>
            </a: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Прослушивание сетевого трафика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sniffing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), чтение чужих файлов, копирование баз данных.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Разглашение: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Публикация конфиденциальных данных, передача их третьим лицам.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Кража носителей: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Хищение компьютеров, флешек, документов.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Утечка данных клиентов банка, опубликованная в открытом доступе.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3863729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2. Угрозы целостности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Направлены на несанкционированное изменение или уничтожение информации.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Модификация данных: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Изменение содержимого файлов, записей в базах данных.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Внедрение вредоносного кода: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Добавление вирусов, "закладок", троянов в легитимное ПО.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Подмена данных: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Замена оригинальных файлов на поддельные.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Взлом сайта и замена главной страницы на страницу с политическим лозунгом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дефейс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Изменение сумм в бухгалтерской базе данных.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3442606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3. Угрозы доступности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Направлены на создание условий, при которых легитимные пользователи не могут получить доступ к информации или сервисам.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Отказ в обслуживании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DoS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/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DDoS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Перегрузка серверов ложными запросами.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Физическое уничтожение: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Вывод из строя оборудования, повреждение линий связи.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Шифрование данных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Ransomware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Вирусы-шифровальщики делают данные недоступными и требуют выкуп за их восстановление.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DDoS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-атака на сайт интернет-магазина в "Чёрную пятницу", делающая его недоступным для покупателей.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Вирус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WannaCry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зашифровавший файлы на сотнях тысяч компьютеров по всему миру.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4108738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В. По источнику угрозы</a:t>
            </a:r>
          </a:p>
          <a:p>
            <a:pPr>
              <a:spcBef>
                <a:spcPts val="600"/>
              </a:spcBef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1. Внешние угрозы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Источник находится за пределами контролируемой зоны организации.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Источники: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Киберпреступники и хакерские группировки.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Конкуренты.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Спецслужбы иностранных государств.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Неконтролируемые внешние факторы (природные явления).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Примеры: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DDoS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-атаки из интернета, фишинговые письма с внешних доменов, взлом внешнего периметра сети.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21511061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>
              <a:spcBef>
                <a:spcPts val="600"/>
              </a:spcBef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2. Внутренние угрозы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Источник находится внутри самой организации.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Источники: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Сотрудники (как недовольные, так и некомпетентные).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Подрядчики и партнёры, имеющие доступ к внутренним ресурсам.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Внутренние технические средства (сбои оборудования, ошибки ПО).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Особенность: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Внутренние угрозы особенно опасны, так как нарушитель часто имеет легальный доступ к системе и знает её устройство.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Слив баз данных уволенным сотрудником, случайное удаление информации, использование слабых паролей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27717979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Г. По стадии доступа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1. Пассивные угрозы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Направлены на получение информации без изменения её содержания или состояния системы. Трудно обнаружимы.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Прослушивание каналов связи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sniffing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), копирование файлов, скрытое наблюдение.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2. Активные угрозы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Связаны с активным воздействием на систему, изменением её состояния, данных или конфигурации. Легче обнаруживаются, но могут нанести больший ущерб.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Примеры: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DoS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-атаки, внедрение вирусов, модификация данных, изменение конфигурации оборудования.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653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Классификация угроз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1171595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Для системного анализа угроз в организации используется понятие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модели угроз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— структурированного описания всех возможных угроз для конкретной системы, а также характеристик потенциальных нарушителей.</a:t>
            </a:r>
          </a:p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Методология STRIDE (Microsoft)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Одна из популярных классификаций угроз по их типу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84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Модель угроз (</a:t>
            </a:r>
            <a:r>
              <a:rPr lang="en-US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Threat Modeling)</a:t>
            </a:r>
            <a:endParaRPr lang="ru-RU" dirty="0">
              <a:solidFill>
                <a:srgbClr val="00549F"/>
              </a:solidFill>
              <a:latin typeface="PT Sans Caption" panose="020B0603020203020204" pitchFamily="34" charset="-52"/>
              <a:ea typeface="PT Sans Caption" panose="020B06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6466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635896" y="232215"/>
            <a:ext cx="384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Модель угроз (</a:t>
            </a:r>
            <a:r>
              <a:rPr lang="en-US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Threat Modeling)</a:t>
            </a:r>
            <a:endParaRPr lang="ru-RU" dirty="0">
              <a:solidFill>
                <a:srgbClr val="00549F"/>
              </a:solidFill>
              <a:latin typeface="PT Sans Caption" panose="020B0603020203020204" pitchFamily="34" charset="-52"/>
              <a:ea typeface="PT Sans Caption" panose="020B0603020203020204" pitchFamily="34" charset="-52"/>
            </a:endParaRP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04C86E5F-8326-4F6B-A353-495C25C71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95367"/>
              </p:ext>
            </p:extLst>
          </p:nvPr>
        </p:nvGraphicFramePr>
        <p:xfrm>
          <a:off x="315184" y="736877"/>
          <a:ext cx="7790869" cy="42263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5348">
                  <a:extLst>
                    <a:ext uri="{9D8B030D-6E8A-4147-A177-3AD203B41FA5}">
                      <a16:colId xmlns:a16="http://schemas.microsoft.com/office/drawing/2014/main" val="1233228236"/>
                    </a:ext>
                  </a:extLst>
                </a:gridCol>
                <a:gridCol w="2042267">
                  <a:extLst>
                    <a:ext uri="{9D8B030D-6E8A-4147-A177-3AD203B41FA5}">
                      <a16:colId xmlns:a16="http://schemas.microsoft.com/office/drawing/2014/main" val="1028750148"/>
                    </a:ext>
                  </a:extLst>
                </a:gridCol>
                <a:gridCol w="1672448">
                  <a:extLst>
                    <a:ext uri="{9D8B030D-6E8A-4147-A177-3AD203B41FA5}">
                      <a16:colId xmlns:a16="http://schemas.microsoft.com/office/drawing/2014/main" val="4169521936"/>
                    </a:ext>
                  </a:extLst>
                </a:gridCol>
                <a:gridCol w="2260806">
                  <a:extLst>
                    <a:ext uri="{9D8B030D-6E8A-4147-A177-3AD203B41FA5}">
                      <a16:colId xmlns:a16="http://schemas.microsoft.com/office/drawing/2014/main" val="2723809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Тип угрозы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73" marT="53233" marB="53233" anchor="ctr"/>
                </a:tc>
                <a:tc>
                  <a:txBody>
                    <a:bodyPr/>
                    <a:lstStyle/>
                    <a:p>
                      <a:pPr indent="222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Описание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 indent="2286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Нарушаемое свойство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Пример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extLst>
                  <a:ext uri="{0D108BD9-81ED-4DB2-BD59-A6C34878D82A}">
                    <a16:rowId xmlns:a16="http://schemas.microsoft.com/office/drawing/2014/main" val="3354160521"/>
                  </a:ext>
                </a:extLst>
              </a:tr>
              <a:tr h="4310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</a:rPr>
                        <a:t>Spoofing</a:t>
                      </a:r>
                      <a:r>
                        <a:rPr lang="ru-RU" sz="1200" dirty="0">
                          <a:effectLst/>
                        </a:rPr>
                        <a:t> (Подмена)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73" marT="53233" marB="53233" anchor="ctr"/>
                </a:tc>
                <a:tc>
                  <a:txBody>
                    <a:bodyPr/>
                    <a:lstStyle/>
                    <a:p>
                      <a:pPr indent="222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Выдача себя за другого пользователя или систему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 indent="2286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Аутентификация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Кража учётных данных, подмена IP-адреса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0" marT="53233" marB="53233" anchor="ctr"/>
                </a:tc>
                <a:extLst>
                  <a:ext uri="{0D108BD9-81ED-4DB2-BD59-A6C34878D82A}">
                    <a16:rowId xmlns:a16="http://schemas.microsoft.com/office/drawing/2014/main" val="2160923009"/>
                  </a:ext>
                </a:extLst>
              </a:tr>
              <a:tr h="4310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Tampering (Модификация)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73" marT="53233" marB="53233" anchor="ctr"/>
                </a:tc>
                <a:tc>
                  <a:txBody>
                    <a:bodyPr/>
                    <a:lstStyle/>
                    <a:p>
                      <a:pPr indent="222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Несанкционированное изменение данных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 indent="2286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Целостность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Изменение файлов, перехват и модификация пакетов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0" marT="53233" marB="53233" anchor="ctr"/>
                </a:tc>
                <a:extLst>
                  <a:ext uri="{0D108BD9-81ED-4DB2-BD59-A6C34878D82A}">
                    <a16:rowId xmlns:a16="http://schemas.microsoft.com/office/drawing/2014/main" val="3756678086"/>
                  </a:ext>
                </a:extLst>
              </a:tr>
              <a:tr h="5788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Repudiation (Отказ от действий)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73" marT="53233" marB="53233" anchor="ctr"/>
                </a:tc>
                <a:tc>
                  <a:txBody>
                    <a:bodyPr/>
                    <a:lstStyle/>
                    <a:p>
                      <a:pPr indent="222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Отказ пользователя от совершённых действий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 indent="2286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Неотказуемость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Совершение операции и отрицание этого факта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0" marT="53233" marB="53233" anchor="ctr"/>
                </a:tc>
                <a:extLst>
                  <a:ext uri="{0D108BD9-81ED-4DB2-BD59-A6C34878D82A}">
                    <a16:rowId xmlns:a16="http://schemas.microsoft.com/office/drawing/2014/main" val="4171564909"/>
                  </a:ext>
                </a:extLst>
              </a:tr>
              <a:tr h="5788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Information Disclosure (Разглашение)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73" marT="53233" marB="53233" anchor="ctr"/>
                </a:tc>
                <a:tc>
                  <a:txBody>
                    <a:bodyPr/>
                    <a:lstStyle/>
                    <a:p>
                      <a:pPr indent="222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Раскрытие информации неавторизованным лицам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 indent="2286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Конфиденциальность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Утечка базы данных, прослушивание трафика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0" marT="53233" marB="53233" anchor="ctr"/>
                </a:tc>
                <a:extLst>
                  <a:ext uri="{0D108BD9-81ED-4DB2-BD59-A6C34878D82A}">
                    <a16:rowId xmlns:a16="http://schemas.microsoft.com/office/drawing/2014/main" val="4007083574"/>
                  </a:ext>
                </a:extLst>
              </a:tr>
              <a:tr h="5788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Denial of Service (Отказ в обслуживании)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73" marT="53233" marB="53233" anchor="ctr"/>
                </a:tc>
                <a:tc>
                  <a:txBody>
                    <a:bodyPr/>
                    <a:lstStyle/>
                    <a:p>
                      <a:pPr indent="222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Нарушение доступности сервиса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 indent="2286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Доступность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</a:rPr>
                        <a:t>DDoS</a:t>
                      </a:r>
                      <a:r>
                        <a:rPr lang="ru-RU" sz="1200" dirty="0">
                          <a:effectLst/>
                        </a:rPr>
                        <a:t>-атака, шифрование данных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0" marT="53233" marB="53233" anchor="ctr"/>
                </a:tc>
                <a:extLst>
                  <a:ext uri="{0D108BD9-81ED-4DB2-BD59-A6C34878D82A}">
                    <a16:rowId xmlns:a16="http://schemas.microsoft.com/office/drawing/2014/main" val="1933219688"/>
                  </a:ext>
                </a:extLst>
              </a:tr>
              <a:tr h="73999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Elevation of Privilege (</a:t>
                      </a:r>
                      <a:r>
                        <a:rPr lang="ru-RU" sz="1200">
                          <a:effectLst/>
                        </a:rPr>
                        <a:t>Повышение привилегий</a:t>
                      </a:r>
                      <a:r>
                        <a:rPr lang="en-US" sz="1200">
                          <a:effectLst/>
                        </a:rPr>
                        <a:t>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85173" marT="53233" marB="53233" anchor="ctr"/>
                </a:tc>
                <a:tc>
                  <a:txBody>
                    <a:bodyPr/>
                    <a:lstStyle/>
                    <a:p>
                      <a:pPr indent="222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Получение прав выше разрешённых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 indent="2286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Авторизация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85173" marT="53233" marB="532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Получение прав администратора через уязвимость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173" marR="0" marT="53233" marB="53233" anchor="ctr"/>
                </a:tc>
                <a:extLst>
                  <a:ext uri="{0D108BD9-81ED-4DB2-BD59-A6C34878D82A}">
                    <a16:rowId xmlns:a16="http://schemas.microsoft.com/office/drawing/2014/main" val="364002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1547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>
              <a:spcBef>
                <a:spcPts val="600"/>
              </a:spcBef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Для полного описания угрозы используются следующие характеристики: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Источник угрозы: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Кто или что является инициатором (хакер, конкурент, стихия, сбой).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Метод осуществления: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Как именно реализуется угроза (через какую уязвимость, с помощью какого инструмента).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2754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Характеристики угроз</a:t>
            </a:r>
          </a:p>
        </p:txBody>
      </p:sp>
    </p:spTree>
    <p:extLst>
      <p:ext uri="{BB962C8B-B14F-4D97-AF65-F5344CB8AC3E}">
        <p14:creationId xmlns:p14="http://schemas.microsoft.com/office/powerpoint/2010/main" val="31837366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Объект воздействия: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 что направлена угроза (данные, ПО, оборудование, персонал).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Уязвимости, используемые для реализации: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Какие конкретно слабые места используются.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Возможные последствия: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Что произойдёт при реализации угрозы.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Вероятность реализации: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Оценка того, насколько вероятно возникновение угрозы.</a:t>
            </a:r>
          </a:p>
          <a:p>
            <a:pPr>
              <a:spcBef>
                <a:spcPts val="600"/>
              </a:spcBef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2754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Характеристики угроз</a:t>
            </a:r>
          </a:p>
        </p:txBody>
      </p:sp>
    </p:spTree>
    <p:extLst>
      <p:ext uri="{BB962C8B-B14F-4D97-AF65-F5344CB8AC3E}">
        <p14:creationId xmlns:p14="http://schemas.microsoft.com/office/powerpoint/2010/main" val="3034062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759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Практические примеры угроз</a:t>
            </a:r>
            <a:r>
              <a:rPr lang="en-US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. </a:t>
            </a:r>
            <a:endParaRPr lang="ru-RU" dirty="0">
              <a:solidFill>
                <a:srgbClr val="00549F"/>
              </a:solidFill>
              <a:latin typeface="PT Sans Caption" panose="020B0603020203020204" pitchFamily="34" charset="-52"/>
              <a:ea typeface="PT Sans Caption" panose="020B0603020203020204" pitchFamily="34" charset="-52"/>
            </a:endParaRP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E4B1AAB5-FB23-4603-99FE-ADAEEB834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459655"/>
              </p:ext>
            </p:extLst>
          </p:nvPr>
        </p:nvGraphicFramePr>
        <p:xfrm>
          <a:off x="425147" y="1563638"/>
          <a:ext cx="7570943" cy="34034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1555901582"/>
                    </a:ext>
                  </a:extLst>
                </a:gridCol>
                <a:gridCol w="5554719">
                  <a:extLst>
                    <a:ext uri="{9D8B030D-6E8A-4147-A177-3AD203B41FA5}">
                      <a16:colId xmlns:a16="http://schemas.microsoft.com/office/drawing/2014/main" val="3539813087"/>
                    </a:ext>
                  </a:extLst>
                </a:gridCol>
              </a:tblGrid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Характеристика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6839" marT="73024" marB="73024" anchor="ctr"/>
                </a:tc>
                <a:tc>
                  <a:txBody>
                    <a:bodyPr/>
                    <a:lstStyle/>
                    <a:p>
                      <a:pPr indent="2476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Значение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839" marR="116839" marT="73024" marB="73024" anchor="ctr"/>
                </a:tc>
                <a:extLst>
                  <a:ext uri="{0D108BD9-81ED-4DB2-BD59-A6C34878D82A}">
                    <a16:rowId xmlns:a16="http://schemas.microsoft.com/office/drawing/2014/main" val="2470583538"/>
                  </a:ext>
                </a:extLst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Источник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6839" marT="73024" marB="73024" anchor="ctr"/>
                </a:tc>
                <a:tc>
                  <a:txBody>
                    <a:bodyPr/>
                    <a:lstStyle/>
                    <a:p>
                      <a:pPr indent="2476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Внешний нарушитель (</a:t>
                      </a:r>
                      <a:r>
                        <a:rPr lang="ru-RU" sz="1200" dirty="0" err="1">
                          <a:effectLst/>
                        </a:rPr>
                        <a:t>киберпреступная</a:t>
                      </a:r>
                      <a:r>
                        <a:rPr lang="ru-RU" sz="1200" dirty="0">
                          <a:effectLst/>
                        </a:rPr>
                        <a:t> группа)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839" marR="0" marT="73024" marB="73024" anchor="ctr"/>
                </a:tc>
                <a:extLst>
                  <a:ext uri="{0D108BD9-81ED-4DB2-BD59-A6C34878D82A}">
                    <a16:rowId xmlns:a16="http://schemas.microsoft.com/office/drawing/2014/main" val="544557585"/>
                  </a:ext>
                </a:extLst>
              </a:tr>
              <a:tr h="604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Метод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6839" marT="73024" marB="73024" anchor="ctr"/>
                </a:tc>
                <a:tc>
                  <a:txBody>
                    <a:bodyPr/>
                    <a:lstStyle/>
                    <a:p>
                      <a:pPr indent="2476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Массовая рассылка писем от имени легитимных организаций (банков, госуслуг) с требованием перейти по ссылке и ввести учётные данные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839" marR="0" marT="73024" marB="73024" anchor="ctr"/>
                </a:tc>
                <a:extLst>
                  <a:ext uri="{0D108BD9-81ED-4DB2-BD59-A6C34878D82A}">
                    <a16:rowId xmlns:a16="http://schemas.microsoft.com/office/drawing/2014/main" val="2660032651"/>
                  </a:ext>
                </a:extLst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Объект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6839" marT="73024" marB="73024" anchor="ctr"/>
                </a:tc>
                <a:tc>
                  <a:txBody>
                    <a:bodyPr/>
                    <a:lstStyle/>
                    <a:p>
                      <a:pPr indent="2476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Сотрудники организации, клиенты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839" marR="0" marT="73024" marB="73024" anchor="ctr"/>
                </a:tc>
                <a:extLst>
                  <a:ext uri="{0D108BD9-81ED-4DB2-BD59-A6C34878D82A}">
                    <a16:rowId xmlns:a16="http://schemas.microsoft.com/office/drawing/2014/main" val="3028183407"/>
                  </a:ext>
                </a:extLst>
              </a:tr>
              <a:tr h="604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Используемые уязвимости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6839" marT="73024" marB="73024" anchor="ctr"/>
                </a:tc>
                <a:tc>
                  <a:txBody>
                    <a:bodyPr/>
                    <a:lstStyle/>
                    <a:p>
                      <a:pPr indent="2476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Недостаточная осведомлённость пользователей, доверчивость, отсутствие технических фильтров почты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839" marR="0" marT="73024" marB="73024" anchor="ctr"/>
                </a:tc>
                <a:extLst>
                  <a:ext uri="{0D108BD9-81ED-4DB2-BD59-A6C34878D82A}">
                    <a16:rowId xmlns:a16="http://schemas.microsoft.com/office/drawing/2014/main" val="35511282"/>
                  </a:ext>
                </a:extLst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Последствия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6839" marT="73024" marB="73024" anchor="ctr"/>
                </a:tc>
                <a:tc>
                  <a:txBody>
                    <a:bodyPr/>
                    <a:lstStyle/>
                    <a:p>
                      <a:pPr indent="2476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Кража учётных данных, компрометация аккаунтов, дальнейшие атаки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839" marR="0" marT="73024" marB="73024" anchor="ctr"/>
                </a:tc>
                <a:extLst>
                  <a:ext uri="{0D108BD9-81ED-4DB2-BD59-A6C34878D82A}">
                    <a16:rowId xmlns:a16="http://schemas.microsoft.com/office/drawing/2014/main" val="1663658728"/>
                  </a:ext>
                </a:extLst>
              </a:tr>
              <a:tr h="5025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Нарушаемое свойство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6839" marT="73024" marB="73024" anchor="ctr"/>
                </a:tc>
                <a:tc>
                  <a:txBody>
                    <a:bodyPr/>
                    <a:lstStyle/>
                    <a:p>
                      <a:pPr indent="2476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Конфиденциальность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839" marR="0" marT="73024" marB="73024" anchor="ctr"/>
                </a:tc>
                <a:extLst>
                  <a:ext uri="{0D108BD9-81ED-4DB2-BD59-A6C34878D82A}">
                    <a16:rowId xmlns:a16="http://schemas.microsoft.com/office/drawing/2014/main" val="290778565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710BC88-07DE-4D2F-8A68-6A37624F1C31}"/>
              </a:ext>
            </a:extLst>
          </p:cNvPr>
          <p:cNvSpPr txBox="1"/>
          <p:nvPr/>
        </p:nvSpPr>
        <p:spPr>
          <a:xfrm>
            <a:off x="338082" y="122179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 1: Фишинговая атака</a:t>
            </a:r>
          </a:p>
        </p:txBody>
      </p:sp>
    </p:spTree>
    <p:extLst>
      <p:ext uri="{BB962C8B-B14F-4D97-AF65-F5344CB8AC3E}">
        <p14:creationId xmlns:p14="http://schemas.microsoft.com/office/powerpoint/2010/main" val="20806237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759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Практические примеры угроз</a:t>
            </a:r>
            <a:r>
              <a:rPr lang="en-US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. </a:t>
            </a:r>
            <a:endParaRPr lang="ru-RU" dirty="0">
              <a:solidFill>
                <a:srgbClr val="00549F"/>
              </a:solidFill>
              <a:latin typeface="PT Sans Caption" panose="020B0603020203020204" pitchFamily="34" charset="-52"/>
              <a:ea typeface="PT Sans Caption" panose="020B0603020203020204" pitchFamily="34" charset="-52"/>
            </a:endParaRP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02CFC3FE-A18F-408E-BC86-9832BB7BB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435567"/>
              </p:ext>
            </p:extLst>
          </p:nvPr>
        </p:nvGraphicFramePr>
        <p:xfrm>
          <a:off x="227236" y="1737765"/>
          <a:ext cx="7901715" cy="3172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0042">
                  <a:extLst>
                    <a:ext uri="{9D8B030D-6E8A-4147-A177-3AD203B41FA5}">
                      <a16:colId xmlns:a16="http://schemas.microsoft.com/office/drawing/2014/main" val="1290966907"/>
                    </a:ext>
                  </a:extLst>
                </a:gridCol>
                <a:gridCol w="5891673">
                  <a:extLst>
                    <a:ext uri="{9D8B030D-6E8A-4147-A177-3AD203B41FA5}">
                      <a16:colId xmlns:a16="http://schemas.microsoft.com/office/drawing/2014/main" val="1333775580"/>
                    </a:ext>
                  </a:extLst>
                </a:gridCol>
              </a:tblGrid>
              <a:tr h="3469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Характеристика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0022" marT="68764" marB="6876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Значение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022" marR="110022" marT="68764" marB="68764" anchor="ctr"/>
                </a:tc>
                <a:extLst>
                  <a:ext uri="{0D108BD9-81ED-4DB2-BD59-A6C34878D82A}">
                    <a16:rowId xmlns:a16="http://schemas.microsoft.com/office/drawing/2014/main" val="2310577406"/>
                  </a:ext>
                </a:extLst>
              </a:tr>
              <a:tr h="3871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Источник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0022" marT="68764" marB="687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Внешний нарушитель, автоматизированное вредоносное ПО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022" marR="0" marT="68764" marB="68764" anchor="ctr"/>
                </a:tc>
                <a:extLst>
                  <a:ext uri="{0D108BD9-81ED-4DB2-BD59-A6C34878D82A}">
                    <a16:rowId xmlns:a16="http://schemas.microsoft.com/office/drawing/2014/main" val="3333889892"/>
                  </a:ext>
                </a:extLst>
              </a:tr>
              <a:tr h="6827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Метод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0022" marT="68764" marB="687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Доставка вредоносного ПО через фишинговое письмо или эксплуатацию уязвимости, затем шифрование файлов на заражённом компьютере и сетевых дисках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022" marR="0" marT="68764" marB="68764" anchor="ctr"/>
                </a:tc>
                <a:extLst>
                  <a:ext uri="{0D108BD9-81ED-4DB2-BD59-A6C34878D82A}">
                    <a16:rowId xmlns:a16="http://schemas.microsoft.com/office/drawing/2014/main" val="1588174237"/>
                  </a:ext>
                </a:extLst>
              </a:tr>
              <a:tr h="3469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Объект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0022" marT="68764" marB="687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Файлы данных, резервные копии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022" marR="0" marT="68764" marB="68764" anchor="ctr"/>
                </a:tc>
                <a:extLst>
                  <a:ext uri="{0D108BD9-81ED-4DB2-BD59-A6C34878D82A}">
                    <a16:rowId xmlns:a16="http://schemas.microsoft.com/office/drawing/2014/main" val="3414276734"/>
                  </a:ext>
                </a:extLst>
              </a:tr>
              <a:tr h="56856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Используемые уязвимости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0022" marT="68764" marB="687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Отсутствие обновлений, слабая защита сетевых ресурсов, отсутствие сегментации сети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022" marR="0" marT="68764" marB="68764" anchor="ctr"/>
                </a:tc>
                <a:extLst>
                  <a:ext uri="{0D108BD9-81ED-4DB2-BD59-A6C34878D82A}">
                    <a16:rowId xmlns:a16="http://schemas.microsoft.com/office/drawing/2014/main" val="4054275161"/>
                  </a:ext>
                </a:extLst>
              </a:tr>
              <a:tr h="2942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Последствия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0022" marT="68764" marB="687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Полная или частичная потеря данных, простой бизнес-процессов, финансовые потери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022" marR="0" marT="68764" marB="68764" anchor="ctr"/>
                </a:tc>
                <a:extLst>
                  <a:ext uri="{0D108BD9-81ED-4DB2-BD59-A6C34878D82A}">
                    <a16:rowId xmlns:a16="http://schemas.microsoft.com/office/drawing/2014/main" val="2013349207"/>
                  </a:ext>
                </a:extLst>
              </a:tr>
              <a:tr h="3469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Нарушаемое свойство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0022" marT="68764" marB="6876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Доступность, целостность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022" marR="0" marT="68764" marB="68764" anchor="ctr"/>
                </a:tc>
                <a:extLst>
                  <a:ext uri="{0D108BD9-81ED-4DB2-BD59-A6C34878D82A}">
                    <a16:rowId xmlns:a16="http://schemas.microsoft.com/office/drawing/2014/main" val="225190151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C6EE229-C9AB-4CCA-A3C9-FCE4E7E97E85}"/>
              </a:ext>
            </a:extLst>
          </p:cNvPr>
          <p:cNvSpPr txBox="1"/>
          <p:nvPr/>
        </p:nvSpPr>
        <p:spPr>
          <a:xfrm>
            <a:off x="331681" y="1378972"/>
            <a:ext cx="5602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 2: Атака программы-вымогателя (</a:t>
            </a:r>
            <a:r>
              <a:rPr lang="ru-RU" dirty="0" err="1"/>
              <a:t>Ransomware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93308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759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Практические примеры угроз</a:t>
            </a:r>
            <a:r>
              <a:rPr lang="en-US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. </a:t>
            </a:r>
            <a:endParaRPr lang="ru-RU" dirty="0">
              <a:solidFill>
                <a:srgbClr val="00549F"/>
              </a:solidFill>
              <a:latin typeface="PT Sans Caption" panose="020B0603020203020204" pitchFamily="34" charset="-52"/>
              <a:ea typeface="PT Sans Caption" panose="020B0603020203020204" pitchFamily="34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6EE229-C9AB-4CCA-A3C9-FCE4E7E97E85}"/>
              </a:ext>
            </a:extLst>
          </p:cNvPr>
          <p:cNvSpPr txBox="1"/>
          <p:nvPr/>
        </p:nvSpPr>
        <p:spPr>
          <a:xfrm>
            <a:off x="331681" y="1485322"/>
            <a:ext cx="5602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Пример 3: Инсайдерская угроза (утечка данных)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97716D6-6BBC-4B77-BCD4-E4FFB5097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739910"/>
              </p:ext>
            </p:extLst>
          </p:nvPr>
        </p:nvGraphicFramePr>
        <p:xfrm>
          <a:off x="187464" y="1854654"/>
          <a:ext cx="7901716" cy="30861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2288">
                  <a:extLst>
                    <a:ext uri="{9D8B030D-6E8A-4147-A177-3AD203B41FA5}">
                      <a16:colId xmlns:a16="http://schemas.microsoft.com/office/drawing/2014/main" val="1122639773"/>
                    </a:ext>
                  </a:extLst>
                </a:gridCol>
                <a:gridCol w="5749428">
                  <a:extLst>
                    <a:ext uri="{9D8B030D-6E8A-4147-A177-3AD203B41FA5}">
                      <a16:colId xmlns:a16="http://schemas.microsoft.com/office/drawing/2014/main" val="3286070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Характеристика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4557" marT="77848" marB="77848" anchor="ctr"/>
                </a:tc>
                <a:tc>
                  <a:txBody>
                    <a:bodyPr/>
                    <a:lstStyle/>
                    <a:p>
                      <a:pPr indent="9525"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Значение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57" marR="124557" marT="77848" marB="77848" anchor="ctr"/>
                </a:tc>
                <a:extLst>
                  <a:ext uri="{0D108BD9-81ED-4DB2-BD59-A6C34878D82A}">
                    <a16:rowId xmlns:a16="http://schemas.microsoft.com/office/drawing/2014/main" val="3954068192"/>
                  </a:ext>
                </a:extLst>
              </a:tr>
              <a:tr h="1969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Источник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4557" marT="77848" marB="77848" anchor="ctr"/>
                </a:tc>
                <a:tc>
                  <a:txBody>
                    <a:bodyPr/>
                    <a:lstStyle/>
                    <a:p>
                      <a:pPr indent="95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Внутренний нарушитель (сотрудник отдела продаж)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57" marR="0" marT="77848" marB="77848" anchor="ctr"/>
                </a:tc>
                <a:extLst>
                  <a:ext uri="{0D108BD9-81ED-4DB2-BD59-A6C34878D82A}">
                    <a16:rowId xmlns:a16="http://schemas.microsoft.com/office/drawing/2014/main" val="1776883635"/>
                  </a:ext>
                </a:extLst>
              </a:tr>
              <a:tr h="2722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Метод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4557" marT="77848" marB="77848" anchor="ctr"/>
                </a:tc>
                <a:tc>
                  <a:txBody>
                    <a:bodyPr/>
                    <a:lstStyle/>
                    <a:p>
                      <a:pPr indent="95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Копирование базы клиентов на личный USB-накопитель перед увольнением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57" marR="0" marT="77848" marB="77848" anchor="ctr"/>
                </a:tc>
                <a:extLst>
                  <a:ext uri="{0D108BD9-81ED-4DB2-BD59-A6C34878D82A}">
                    <a16:rowId xmlns:a16="http://schemas.microsoft.com/office/drawing/2014/main" val="1201181385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Объект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4557" marT="77848" marB="77848" anchor="ctr"/>
                </a:tc>
                <a:tc>
                  <a:txBody>
                    <a:bodyPr/>
                    <a:lstStyle/>
                    <a:p>
                      <a:pPr indent="95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База данных клиентов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57" marR="0" marT="77848" marB="77848" anchor="ctr"/>
                </a:tc>
                <a:extLst>
                  <a:ext uri="{0D108BD9-81ED-4DB2-BD59-A6C34878D82A}">
                    <a16:rowId xmlns:a16="http://schemas.microsoft.com/office/drawing/2014/main" val="1194484627"/>
                  </a:ext>
                </a:extLst>
              </a:tr>
              <a:tr h="2609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Используемые уязвимости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4557" marT="77848" marB="77848" anchor="ctr"/>
                </a:tc>
                <a:tc>
                  <a:txBody>
                    <a:bodyPr/>
                    <a:lstStyle/>
                    <a:p>
                      <a:pPr indent="95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Отсутствие контроля USB-устройств, избыточные права доступа, отсутствие систем предотвращения утечек (DLP)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57" marR="0" marT="77848" marB="77848" anchor="ctr"/>
                </a:tc>
                <a:extLst>
                  <a:ext uri="{0D108BD9-81ED-4DB2-BD59-A6C34878D82A}">
                    <a16:rowId xmlns:a16="http://schemas.microsoft.com/office/drawing/2014/main" val="17839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Последствия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4557" marT="77848" marB="77848" anchor="ctr"/>
                </a:tc>
                <a:tc>
                  <a:txBody>
                    <a:bodyPr/>
                    <a:lstStyle/>
                    <a:p>
                      <a:pPr indent="95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Утечка коммерческой тайны к конкуренту, потеря клиентов, репутационный ущерб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57" marR="0" marT="77848" marB="77848" anchor="ctr"/>
                </a:tc>
                <a:extLst>
                  <a:ext uri="{0D108BD9-81ED-4DB2-BD59-A6C34878D82A}">
                    <a16:rowId xmlns:a16="http://schemas.microsoft.com/office/drawing/2014/main" val="3903864176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Нарушаемое свойство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4557" marT="77848" marB="77848" anchor="ctr"/>
                </a:tc>
                <a:tc>
                  <a:txBody>
                    <a:bodyPr/>
                    <a:lstStyle/>
                    <a:p>
                      <a:pPr indent="9525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Конфиденциальность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57" marR="0" marT="77848" marB="77848" anchor="ctr"/>
                </a:tc>
                <a:extLst>
                  <a:ext uri="{0D108BD9-81ED-4DB2-BD59-A6C34878D82A}">
                    <a16:rowId xmlns:a16="http://schemas.microsoft.com/office/drawing/2014/main" val="79102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6955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Целевые атаки (APT — Advanced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Persistent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Threats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Сложные, многоэтапные атаки, проводимые хорошо подготовленными группами (часто спонсируемыми государствами) против конкретных организаций. Могут длиться месяцами.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Ransomware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как услуга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RaaS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Модель, при которой разработчики вирусов-шифровальщиков предоставляют своё ПО "партнёрам" за процент от выкупа.</a:t>
            </a:r>
          </a:p>
          <a:p>
            <a:pPr>
              <a:spcBef>
                <a:spcPts val="600"/>
              </a:spcBef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465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Современные тенденции в угрозах ИБ</a:t>
            </a:r>
          </a:p>
        </p:txBody>
      </p:sp>
    </p:spTree>
    <p:extLst>
      <p:ext uri="{BB962C8B-B14F-4D97-AF65-F5344CB8AC3E}">
        <p14:creationId xmlns:p14="http://schemas.microsoft.com/office/powerpoint/2010/main" val="34371244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31681" y="23221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Угрозы и их классификация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57122" cy="351019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Угрозы Интернета вещей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IoT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Атаки на умные устройства (камеры, роутеры, медицинские приборы), которые часто имеют слабую защиту.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Угрозы цепочкам поставок: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Атаки на подрядчиков и партнёров для проникновения в основную организацию (пример: взлом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SolarWinds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Атаки с использованием искусственного интеллекта: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Создание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дипфейков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(поддельных видео/аудио) для обхода биометрической аутентификации и социальной инженерии.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465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Современные тенденции в угрозах ИБ</a:t>
            </a:r>
          </a:p>
        </p:txBody>
      </p:sp>
    </p:spTree>
    <p:extLst>
      <p:ext uri="{BB962C8B-B14F-4D97-AF65-F5344CB8AC3E}">
        <p14:creationId xmlns:p14="http://schemas.microsoft.com/office/powerpoint/2010/main" val="27871428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F2AF4D-5F99-0EED-09FC-A4BBC3C1D89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2267744" y="373815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ru-RU" cap="all" dirty="0">
                <a:solidFill>
                  <a:schemeClr val="lt1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</p:txBody>
      </p:sp>
      <p:sp>
        <p:nvSpPr>
          <p:cNvPr id="7" name="Google Shape;898;g89d9307d70_13_164"/>
          <p:cNvSpPr txBox="1"/>
          <p:nvPr/>
        </p:nvSpPr>
        <p:spPr>
          <a:xfrm>
            <a:off x="2267744" y="2355726"/>
            <a:ext cx="5904656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Спасибо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за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внимание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!</a:t>
            </a:r>
            <a:endParaRPr sz="3600" b="1" i="0" u="none" strike="noStrike" cap="none" dirty="0">
              <a:solidFill>
                <a:schemeClr val="bg1"/>
              </a:solidFill>
              <a:latin typeface="PT Sans" panose="020B0503020203020204" pitchFamily="34" charset="-52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67744" y="3363838"/>
            <a:ext cx="655272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PT Sans" panose="020B0503020203020204" pitchFamily="34" charset="-52"/>
              </a:rPr>
              <a:t>Мулюков Рустем Ирекович</a:t>
            </a:r>
          </a:p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к.т.н. доцент ИТИС</a:t>
            </a:r>
          </a:p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начальник отдела, ДИС</a:t>
            </a:r>
          </a:p>
          <a:p>
            <a:endParaRPr lang="ru-RU" sz="120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RIMuljukov@kpfu.ru</a:t>
            </a:r>
          </a:p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+7 (843) 206 50 84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1F81E5-8EFA-4C91-9D37-F65076B7B4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1" y="656018"/>
            <a:ext cx="1554123" cy="635921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DD35B2-0F3A-4D58-954D-7BD709B90A68}"/>
              </a:ext>
            </a:extLst>
          </p:cNvPr>
          <p:cNvSpPr/>
          <p:nvPr/>
        </p:nvSpPr>
        <p:spPr>
          <a:xfrm>
            <a:off x="8172400" y="0"/>
            <a:ext cx="971600" cy="5143500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E62FD6-4DCB-4AEE-8C42-38874407AC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36" y="339502"/>
            <a:ext cx="432928" cy="90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90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 marL="457200" indent="-457200" algn="l">
          <a:buFont typeface="Arial" panose="020B0604020202020204" pitchFamily="34" charset="0"/>
          <a:buChar char="•"/>
          <a:defRPr sz="2000" b="1" dirty="0" smtClean="0">
            <a:solidFill>
              <a:schemeClr val="tx1">
                <a:lumMod val="75000"/>
                <a:lumOff val="25000"/>
              </a:schemeClr>
            </a:solidFill>
            <a:latin typeface="PT Sans" panose="020B0503020203020204" pitchFamily="34" charset="-52"/>
            <a:ea typeface="PT Sans" panose="020B0503020203020204" pitchFamily="34" charset="-5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9782</TotalTime>
  <Words>3914</Words>
  <Application>Microsoft Office PowerPoint</Application>
  <PresentationFormat>Экран (16:9)</PresentationFormat>
  <Paragraphs>725</Paragraphs>
  <Slides>51</Slides>
  <Notes>51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7" baseType="lpstr">
      <vt:lpstr>Arial</vt:lpstr>
      <vt:lpstr>Calibri</vt:lpstr>
      <vt:lpstr>Lucida Console</vt:lpstr>
      <vt:lpstr>PT Sans</vt:lpstr>
      <vt:lpstr>PT Sans Caption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Шафигуллин Марат Шарифуллович</dc:creator>
  <cp:lastModifiedBy>Мулюков Рустем Ирекович</cp:lastModifiedBy>
  <cp:revision>199</cp:revision>
  <dcterms:created xsi:type="dcterms:W3CDTF">2020-07-15T10:53:07Z</dcterms:created>
  <dcterms:modified xsi:type="dcterms:W3CDTF">2026-02-27T14:29:19Z</dcterms:modified>
</cp:coreProperties>
</file>