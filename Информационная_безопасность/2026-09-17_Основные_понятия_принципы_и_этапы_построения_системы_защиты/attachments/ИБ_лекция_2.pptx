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72" r:id="rId4"/>
    <p:sldId id="274" r:id="rId5"/>
    <p:sldId id="273" r:id="rId6"/>
    <p:sldId id="275" r:id="rId7"/>
    <p:sldId id="276" r:id="rId8"/>
    <p:sldId id="278" r:id="rId9"/>
    <p:sldId id="277" r:id="rId10"/>
    <p:sldId id="279" r:id="rId11"/>
    <p:sldId id="280" r:id="rId12"/>
    <p:sldId id="281" r:id="rId13"/>
    <p:sldId id="303" r:id="rId14"/>
    <p:sldId id="282" r:id="rId15"/>
    <p:sldId id="283" r:id="rId16"/>
    <p:sldId id="304" r:id="rId17"/>
    <p:sldId id="284" r:id="rId18"/>
    <p:sldId id="285" r:id="rId19"/>
    <p:sldId id="286" r:id="rId20"/>
    <p:sldId id="287" r:id="rId21"/>
    <p:sldId id="288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5" r:id="rId33"/>
    <p:sldId id="300" r:id="rId34"/>
    <p:sldId id="301" r:id="rId35"/>
    <p:sldId id="306" r:id="rId36"/>
    <p:sldId id="302" r:id="rId37"/>
    <p:sldId id="270" r:id="rId3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улюков Рустем Ирекович" initials="МРИ" lastIdx="1" clrIdx="0">
    <p:extLst>
      <p:ext uri="{19B8F6BF-5375-455C-9EA6-DF929625EA0E}">
        <p15:presenceInfo xmlns:p15="http://schemas.microsoft.com/office/powerpoint/2012/main" userId="Мулюков Рустем Ирек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CC1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4665" autoAdjust="0"/>
  </p:normalViewPr>
  <p:slideViewPr>
    <p:cSldViewPr>
      <p:cViewPr varScale="1">
        <p:scale>
          <a:sx n="121" d="100"/>
          <a:sy n="121" d="100"/>
        </p:scale>
        <p:origin x="1248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Шрифт: </a:t>
            </a:r>
            <a:r>
              <a:rPr lang="en-US" dirty="0"/>
              <a:t>PT Sans Caption 20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49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Для формирования единого понятийного аппарата и корректного изучения дисциплины «Информационная безопасность» необходимо строго определить ключевые термины. Ниже приведены основные понятия, которые составляют фундамент этой области знаний, дополненные конкретными примерами для лучшего понимания.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86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373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828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416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162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67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704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436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564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83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192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064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313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47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10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2928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98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5696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528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720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0044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994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02606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766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185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896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3619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182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3020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263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404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8863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8879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6883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IMuljukov@kpfu.r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9732FE-DEE9-D328-81B8-A59F2E95793F}"/>
              </a:ext>
            </a:extLst>
          </p:cNvPr>
          <p:cNvSpPr/>
          <p:nvPr/>
        </p:nvSpPr>
        <p:spPr>
          <a:xfrm>
            <a:off x="0" y="-236562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03648" y="237266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100"/>
            </a:pPr>
            <a:r>
              <a:rPr lang="ru-RU" sz="2000" cap="all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ИНФОРМАЦИОННАЯ БЕЗОПАСНОСТЬ</a:t>
            </a:r>
          </a:p>
          <a:p>
            <a:pPr lvl="0" algn="ctr">
              <a:buClr>
                <a:srgbClr val="000000"/>
              </a:buClr>
              <a:buSzPts val="1100"/>
            </a:pPr>
            <a:r>
              <a:rPr lang="ru-RU" sz="2000" cap="all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Лекция 2.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2339753" y="2058086"/>
            <a:ext cx="4464495" cy="0"/>
          </a:xfrm>
          <a:prstGeom prst="line">
            <a:avLst/>
          </a:prstGeom>
          <a:ln w="12700">
            <a:solidFill>
              <a:srgbClr val="0054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A39671-8D5C-4FE5-AD70-BBC56ADC4F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823" y="133094"/>
            <a:ext cx="1043052" cy="18625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F03C67-1676-4924-9445-BB161D100B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26" y="483518"/>
            <a:ext cx="3000025" cy="122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4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5721D61-F105-393D-B39B-6269E0DA8ACF}"/>
              </a:ext>
            </a:extLst>
          </p:cNvPr>
          <p:cNvSpPr/>
          <p:nvPr/>
        </p:nvSpPr>
        <p:spPr>
          <a:xfrm>
            <a:off x="5796135" y="0"/>
            <a:ext cx="3347865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1994628"/>
            <a:ext cx="525658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cap="all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Информационная безопасность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Основные термины и определения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PT Sans Caption" panose="020B0603020203020204" pitchFamily="34" charset="0"/>
              </a:rPr>
              <a:t>Реализация информационной защиты</a:t>
            </a:r>
            <a:endParaRPr lang="en-US" dirty="0">
              <a:solidFill>
                <a:schemeClr val="bg1">
                  <a:lumMod val="50000"/>
                </a:schemeClr>
              </a:solidFill>
              <a:latin typeface="PT Sans Caption" panose="020B0603020203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0152" y="2570009"/>
            <a:ext cx="2670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к.т.н. доцент ИТИС</a:t>
            </a:r>
          </a:p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начальник отдела, ДИС</a:t>
            </a:r>
          </a:p>
          <a:p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  <a:p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RIMuljukov@kpfu.ru</a:t>
            </a:r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+7 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PT Sans" panose="020B0503020203020204" pitchFamily="34" charset="-52"/>
              </a:rPr>
              <a:t>9272437827</a:t>
            </a:r>
            <a:endParaRPr lang="ru-RU" sz="1200" dirty="0">
              <a:solidFill>
                <a:schemeClr val="accent5">
                  <a:lumMod val="60000"/>
                  <a:lumOff val="4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665520"/>
            <a:ext cx="1837357" cy="351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8AFAC4-B2D5-2DBB-D8EF-09E8A08D5593}"/>
              </a:ext>
            </a:extLst>
          </p:cNvPr>
          <p:cNvSpPr txBox="1"/>
          <p:nvPr/>
        </p:nvSpPr>
        <p:spPr>
          <a:xfrm>
            <a:off x="5940152" y="1923678"/>
            <a:ext cx="2381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Мулюков</a:t>
            </a:r>
          </a:p>
          <a:p>
            <a:r>
              <a:rPr lang="ru-RU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PT Sans" panose="020B0503020203020204" pitchFamily="34" charset="-52"/>
              </a:rPr>
              <a:t>Рустем Ирекович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12AB575-7C72-454E-BB40-D194FBE85258}"/>
              </a:ext>
            </a:extLst>
          </p:cNvPr>
          <p:cNvSpPr/>
          <p:nvPr/>
        </p:nvSpPr>
        <p:spPr>
          <a:xfrm>
            <a:off x="8172400" y="0"/>
            <a:ext cx="971600" cy="5143500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26BF2-5AE2-4403-971E-3EB821326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Состояние защищённости информационной среды (системы) от внутренних и внешних угроз, обеспечивающее её формирование, использование и развитие в интересах субъектов информационных отношений.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Работа банковской системы онлайн-платежей, где данные клиентов (номера карт, балансы) защищены от краж, подделок и несанкционированного доступа, а сама система доступна для легитимных пользователей 24/7.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44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Информационная безопасность (ИБ)</a:t>
            </a:r>
          </a:p>
        </p:txBody>
      </p:sp>
    </p:spTree>
    <p:extLst>
      <p:ext uri="{BB962C8B-B14F-4D97-AF65-F5344CB8AC3E}">
        <p14:creationId xmlns:p14="http://schemas.microsoft.com/office/powerpoint/2010/main" val="194872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Любая информация, а также средства и системы её обработки, хранения и передачи, которые имеют ценность для организации или личности.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 активов: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Данные: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База данных паспортных данных клиентов, коммерческая тайна (рецептура напитка), исходный код программного продукта.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Программное обеспечение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Лицензионная CRM-система, ПО для управления производственным станком.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050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Информационный актив (ресурс)</a:t>
            </a:r>
          </a:p>
        </p:txBody>
      </p:sp>
    </p:spTree>
    <p:extLst>
      <p:ext uri="{BB962C8B-B14F-4D97-AF65-F5344CB8AC3E}">
        <p14:creationId xmlns:p14="http://schemas.microsoft.com/office/powerpoint/2010/main" val="281948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 активов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Аппаратное обеспечение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Серверы, на которых хранится база данных, рабочие станции сотрудников, маршрутизаторы.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Персонал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Сотрудники, обладающие уникальными знаниями и навыками.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Репутация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Доверие клиентов и бренд компании.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3049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Информационный актив</a:t>
            </a:r>
          </a:p>
        </p:txBody>
      </p:sp>
    </p:spTree>
    <p:extLst>
      <p:ext uri="{BB962C8B-B14F-4D97-AF65-F5344CB8AC3E}">
        <p14:creationId xmlns:p14="http://schemas.microsoft.com/office/powerpoint/2010/main" val="51654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Слабое место (недостаток) в системе, её проектировании, реализации или эксплуатации, которое может быть использовано для нарушения политики безопасности.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Программная уязвимость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Ошибка в коде веб-сервера (например, переполнение буфера), позволяющая злоумышленнику выполнить произвольный код.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1509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Уязвимость</a:t>
            </a:r>
          </a:p>
        </p:txBody>
      </p:sp>
    </p:spTree>
    <p:extLst>
      <p:ext uri="{BB962C8B-B14F-4D97-AF65-F5344CB8AC3E}">
        <p14:creationId xmlns:p14="http://schemas.microsoft.com/office/powerpoint/2010/main" val="298756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Конфигурационная уязвимость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Использование слабого пароля «admin123» для учётной записи администратора или оставленный открытым сетевой порт для удалённого управления (RDP,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Telnet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без защиты.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Процедурная (кадровая) уязвимость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Отсутствие инструкций для сотрудников по обращению с конфиденциальной информацией, что может привести к её случайной публикации.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1509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Уязвимость</a:t>
            </a:r>
          </a:p>
        </p:txBody>
      </p:sp>
    </p:spTree>
    <p:extLst>
      <p:ext uri="{BB962C8B-B14F-4D97-AF65-F5344CB8AC3E}">
        <p14:creationId xmlns:p14="http://schemas.microsoft.com/office/powerpoint/2010/main" val="215045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Потенциальная возможность определённым образом нарушить информационную безопасность, то есть воспользоваться уязвимостью для нанесения ущерба.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Классификация и примеры: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 источнику: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Внешние: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-атака от хакерской группировки, фишинговое письмо от мошенников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Внутренние: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Недовольный сотрудник, намеренно копирующий коммерческую тайну на USB-носитель; случайное удаление файла по неосторожности.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93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Угроза (информационной безопасности)</a:t>
            </a:r>
          </a:p>
        </p:txBody>
      </p:sp>
    </p:spTree>
    <p:extLst>
      <p:ext uri="{BB962C8B-B14F-4D97-AF65-F5344CB8AC3E}">
        <p14:creationId xmlns:p14="http://schemas.microsoft.com/office/powerpoint/2010/main" val="279432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Классификация и примеры: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 природе: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Естественные: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Пожар в дата-центре, наводнение, приводящее к выходу оборудования из строя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Искусственные: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Целенаправленная кибератака, хищение ноутбука.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493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Угроза (информационной безопасности)</a:t>
            </a:r>
          </a:p>
        </p:txBody>
      </p:sp>
    </p:spTree>
    <p:extLst>
      <p:ext uri="{BB962C8B-B14F-4D97-AF65-F5344CB8AC3E}">
        <p14:creationId xmlns:p14="http://schemas.microsoft.com/office/powerpoint/2010/main" val="356908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Реализованная угроза, то есть целенаправленное действие злоумышленника, эксплуатирующее одну или несколько уязвимостей системы для нарушения её безопасности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Атака с использованием социальной инженерии: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Злоумышленник звонит сотруднику, представляясь техподдержкой, и выманивает у него пароль для входа в систему (эксплуатация кадровой уязвимости).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37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Атака (кибератака)</a:t>
            </a:r>
          </a:p>
        </p:txBody>
      </p:sp>
    </p:spTree>
    <p:extLst>
      <p:ext uri="{BB962C8B-B14F-4D97-AF65-F5344CB8AC3E}">
        <p14:creationId xmlns:p14="http://schemas.microsoft.com/office/powerpoint/2010/main" val="139722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67602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Атака с использованием вредоносного ПО: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Запуск вируса-шифровальщика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ransomware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на компьютере жертвы, который шифрует все файлы и требует выкуп (эксплуатация программной уязвимости в ОС или приложении).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Сетевая атака: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Проведение атаки «отказ в обслуживании»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на веб-сайт компании, перегружая его серверы ложными запросами.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/>
          <p:nvPr/>
        </p:nvSpPr>
        <p:spPr>
          <a:xfrm>
            <a:off x="338082" y="852467"/>
            <a:ext cx="2379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Атака (кибератака)</a:t>
            </a:r>
          </a:p>
        </p:txBody>
      </p:sp>
    </p:spTree>
    <p:extLst>
      <p:ext uri="{BB962C8B-B14F-4D97-AF65-F5344CB8AC3E}">
        <p14:creationId xmlns:p14="http://schemas.microsoft.com/office/powerpoint/2010/main" val="278178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7" y="1221799"/>
            <a:ext cx="7932007" cy="37262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Потенциальная вероятность того, что конкретная угроза воспользуется уязвимостью актива и нанесёт ущерб организации.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Риск оценивается как сочетание вероятности события и масштаба возможных последствий.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Формула (концептуальная): Риск = Угроза × Уязвимость × Ценность актива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Риск (информационной безопасности)</a:t>
            </a:r>
          </a:p>
        </p:txBody>
      </p:sp>
    </p:spTree>
    <p:extLst>
      <p:ext uri="{BB962C8B-B14F-4D97-AF65-F5344CB8AC3E}">
        <p14:creationId xmlns:p14="http://schemas.microsoft.com/office/powerpoint/2010/main" val="31611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7" y="1221799"/>
            <a:ext cx="7932007" cy="37262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Риск утечки базы данных клиентов (ценный актив) высок, если существует угроза целевой атаки хакеров и в системе защиты есть уязвимость (например, не установлено критическое обновление). 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Риск низок, если данные зашифрованы, а система изолирована от интернета (уязвимостей меньше, вероятность реализации угрозы снижена).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Риск (информационной безопасности)</a:t>
            </a:r>
          </a:p>
        </p:txBody>
      </p:sp>
    </p:spTree>
    <p:extLst>
      <p:ext uri="{BB962C8B-B14F-4D97-AF65-F5344CB8AC3E}">
        <p14:creationId xmlns:p14="http://schemas.microsoft.com/office/powerpoint/2010/main" val="1979875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43818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Одно или несколько нежелательных или неожиданных событий безопасности, которые с высокой вероятностью могут нарушить работу бизнес-операций или создать угрозу для информационной безопасности.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Обнаружение вируса на корпоративном сервере.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Несанкционированный доступ к электронной почте руководителя отдела.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Утечка в интернет внутреннего документа компании.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Отказ работы сайта из-за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-атаки.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Инцидент информационной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16296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Формальный документ (или совокупность документов), определяющий подход организации к управлению информационной безопасностью, устанавливающий правила, роли и обязанности.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Политика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3863314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«Политика использования паролей» в компании может требовать: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Минимальную длину пароля — 12 символов.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Обязательное использование заглавных и строчных букв, цифр и специальных символов.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Смену пароля каждые 90 дней.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Запрет на повторное использование последних 5 паролей.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Это организационная мера, направленная на снижение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связанной со слабыми учётными данными.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Политика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998264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Определение: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Средство (техническое, организационное, правовое), управление, процедура или практика, предназначенные для снижения риска.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Классификация и примеры: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Превентивные (предупредительные):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Призваны не допустить реализации угрозы.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Межсетевой экран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файрвол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), система шифрования дисков, обучение сотрудников.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Контроль (мера защиты)</a:t>
            </a:r>
          </a:p>
        </p:txBody>
      </p:sp>
    </p:spTree>
    <p:extLst>
      <p:ext uri="{BB962C8B-B14F-4D97-AF65-F5344CB8AC3E}">
        <p14:creationId xmlns:p14="http://schemas.microsoft.com/office/powerpoint/2010/main" val="3375502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Классификация и примеры: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Детективные (обнаруживающие):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Призваны выявить происходящую атаку или инцидент.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Система обнаружения вторжений (IDS), анализ журналов событий (логов), антивирусное сканирование.</a:t>
            </a:r>
          </a:p>
          <a:p>
            <a:pPr marL="457200" indent="-457200">
              <a:buFont typeface="+mj-lt"/>
              <a:buAutoNum type="arabicPeriod" startAt="2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Корректирующие (восстанавливающие):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Призваны ликвидировать последствия инцидента и восстановить нормальную работу.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Процедуры восстановления данных из резервной копии, план устранения инцидентов (IRP).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Контроль (мера защиты)</a:t>
            </a:r>
          </a:p>
        </p:txBody>
      </p:sp>
    </p:spTree>
    <p:extLst>
      <p:ext uri="{BB962C8B-B14F-4D97-AF65-F5344CB8AC3E}">
        <p14:creationId xmlns:p14="http://schemas.microsoft.com/office/powerpoint/2010/main" val="2078024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Сценарий: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Сотрудник получил фишинговое письмо, похожее на письмо от руководства, с просьбой срочно перевести деньги.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Актив: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Денежные средства компании, репутация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Уязвимость: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Недостаточная осведомлённость сотрудников о фишинговых атаках (кадровая уязвимость).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Угроза: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Мошенничество с использованием социальной инженерии.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Атака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Отправка целевых фишинговых писем сотрудникам финансового отдела.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Риск: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Вероятность перевода денег мошенникам, ведущая к прямым финансовым потерям.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Взаимосвязь терминов на практическом примере:</a:t>
            </a:r>
          </a:p>
        </p:txBody>
      </p:sp>
    </p:spTree>
    <p:extLst>
      <p:ext uri="{BB962C8B-B14F-4D97-AF65-F5344CB8AC3E}">
        <p14:creationId xmlns:p14="http://schemas.microsoft.com/office/powerpoint/2010/main" val="325041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Превентивный контроль: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Регулярное обучение сотрудников по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киберграмотности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система проверки и подтверждения финансовых поручений.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Детективный контроль: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Система мониторинга и анализа почтового трафика на предмет фишинговых признаков.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Инцидент: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Если сотрудник перешёл по ссылке и ввёл учётные данные корпоративной системы.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Корректирующий контроль: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Немедленная блокировка скомпрометированной учётной записи, смена паролей, расследование инцидента.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Взаимосвязь терминов на практическом примере:</a:t>
            </a:r>
          </a:p>
        </p:txBody>
      </p:sp>
    </p:spTree>
    <p:extLst>
      <p:ext uri="{BB962C8B-B14F-4D97-AF65-F5344CB8AC3E}">
        <p14:creationId xmlns:p14="http://schemas.microsoft.com/office/powerpoint/2010/main" val="1140956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Основные термины и определения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Чёткое понимание этих базовых терминов и их взаимосвязей является необходимым условием для системного изучения классификаций угроз и уязвимостей, а также для проектирования и реализации эффективных механизмов защиты на различных уровнях информационной системы.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Взаимосвязь терминов на практическом примере:</a:t>
            </a:r>
          </a:p>
        </p:txBody>
      </p:sp>
    </p:spTree>
    <p:extLst>
      <p:ext uri="{BB962C8B-B14F-4D97-AF65-F5344CB8AC3E}">
        <p14:creationId xmlns:p14="http://schemas.microsoft.com/office/powerpoint/2010/main" val="2952449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Создание эффективной системы защиты информации (СЗИ) — это не хаотичный набор мер, а сложный, структурированный процесс, протекающий циклически и опирающийся на принципы. Данный раздел рассматривает практические этапы построения такой системы, от замысла до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3601176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Перед началом проектирования необходимо принять во внимание фундаментальные принципы: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Комплексность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Многоуровневость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Защита выстраивается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 всех уровнях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представления информации (физическом, логическом, сетевом) и охватывает все компоненты: данные, программы, оборудование, персонал, регламенты.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Защита базы данных клиентов включает: шифрование дисков (физический/логический), строгий контроль доступа через учетные записи (логический), защиту каналов связи с помощью VPN (сетевой) и обучение сотрудников (кадровый уровень).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Принципы построения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837272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Разумная достаточность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Уровень защиты должен соответствовать ценности защищаемого актива и реальному уровню угроз. Затраты на защиту не должны превышать возможный ущерб.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Для публичного информационного сайта достаточно базовых мер (резервное копирование, HTTPS, защита от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DDoS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). Для сервера с персональными данными пациентов клиники требуется полный набор средств (шифрование, строгая аутентификация, сегментация сети, IDS).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Принципы построения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270068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Непрерывность и адаптивность: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Защита — это не разовое мероприятие, а постоянный процесс (цикл «Plan-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Do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-Check-Act»). Система должна адаптироваться к новым угрозам, технологиям и изменениям в бизнес-процессах.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Регулярное обновление сигнатур антивируса, пересмотр политик доступа при смене ролей сотрудников, проведение ежегодных аудитов безопасности.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Принципы построения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393998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Гибкость (Масштабируемость):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СЗИ должна позволять относительно легко вводить новые объекты защиты и менять конфигурацию без коренной перестройки всей системы.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Простота управления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Администрирование системы защиты должно быть максимально централизованным и понятным. Сложные, неочевидные настройки часто становятся источником уязвимостей.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Принципы построения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869863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Реализация СЗИ представляет собой циклический процесс, состоящий из следующих ключевых этапов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1. Определение политики информационной безопасности (ПИБ)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Это отправная точка. ПИБ — это верховный документ, утверждаемый руководством, который определяет цели, подход, распределение ответственности и общие правила в области ИБ.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содержания ПИБ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Заявление о приверженности защите информации, классификация активов (открытые, внутренние, конфиденциальные, строго конфиденциальные), общие требования к контролю доступа, управлению инцидентами, обучению персонала.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751329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9"/>
            <a:ext cx="7706430" cy="3646446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2. Анализ рисков и выбор объектов защиты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 основе ПИБ проводится инвентаризация и оценка информационных активов, анализируются угрозы и уязвимости для них.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Идентификация активов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Составление реестра всего ценного (серверы, данные, ПО, ключевые сотрудники).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Оценка уязвимостей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Поиск слабых мест. Пример: Сканирование уязвимостей внутренней сети с помощью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OpenVAS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или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Nessus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Идентификация угроз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Определение, кто и как может атаковать (киберпреступники, конкуренты, инсайдеры, форс-мажор).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Расчет рисков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Оценка вероятности реализации угрозы через уязвимость и масштаба возможного ущерба для каждого актива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41760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3. Выбор и проектирование мер и средств защиты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 основании анализа рисков выбираются конкретные контрмеры. Защита строится по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модели эшелонированной обороны (Defense-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in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-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Depth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проектирования защиты периметра сети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Первый эшелон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Межсетевой экран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Файрвол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на границе сети, блокирующий нежелательный трафик.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Второй эшелон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Система предотвращения вторжений (IPS), анализирующая трафик на наличие аномалий и атак.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Третий эшелон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Сегментация сети на VLAN, чтобы даже при проникновении злоумышленник не смог свободно перемещаться между отделами.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Четвертый эшелон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Антивирусные средства и система контроля доступа на конечных рабочих станциях и серверах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946067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4. Внедрение и настройка средств защиты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Практическая реализация спроектированных мер: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Установка и конфигурация программно-аппаратных средств (межсетевых экранов, систем контроля доступа, средств шифрования).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Разработка и внедрение организационных документов: регламентов, инструкций, политик паролей.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Настройка подсистем безопасности в ОС и прикладном ПО.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Настройка системы управления доступом (DAC) в Linux: создание пользователей и групп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useradd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groupadd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), назначение прав на файлы и каталоги (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chmod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chown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для реализации принципа минимальных привилегий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460317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5. Эксплуатация и мониторинг</a:t>
            </a:r>
          </a:p>
          <a:p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Работающая система требует постоянного контроля и управления.</a:t>
            </a:r>
          </a:p>
          <a:p>
            <a:pPr marL="457200" indent="-457200">
              <a:buFont typeface="+mj-lt"/>
              <a:buAutoNum type="arabicPeriod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Администрирование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Управление учетными записями, обновление ПО, анализ журналов событий (логов).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Пример: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Администратор ежедневно просматривает журналы безопасности Windows (Event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Viewer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 на предмет неудачных попыток входа.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857532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5. Эксплуатация и мониторинг</a:t>
            </a:r>
          </a:p>
          <a:p>
            <a:pPr marL="457200" indent="-457200">
              <a:buFont typeface="+mj-lt"/>
              <a:buAutoNum type="arabicPeriod"/>
            </a:pP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Мониторинг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Постоянный контроль состояния средств защиты и выявление аномалий.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Использование системы SIEM (Security Information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and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Event Management) для агрегации и корреляции событий с разных устройств.</a:t>
            </a:r>
          </a:p>
          <a:p>
            <a:pPr marL="457200" indent="-457200">
              <a:buFont typeface="+mj-lt"/>
              <a:buAutoNum type="arabicPeriod" startAt="2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Управление инцидентами: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Наличие регламентированного плана реагирования на инциденты безопасности (сбор доказательств, локализация, ликвидация, восстановление).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2783392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Этап 6. Аудит, анализ эффективности и совершенствование.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Завершающая и одновременно начальная стадия нового цикла. Оценивается, насколько реализованная защита соответствует заявленным целям.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Проведение тестов на проникновение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Penetration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Testing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Моделирование действий злоумышленника для проверки реальной устойчивости системы.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Аудит соответствия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Проверка на соответствие требованиям стандартов (ГОСТ Р ИСО/МЭК 27001, 152-ФЗ).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Анализ произошедших инцидентов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: Каждый инцидент — источник информации для улучшения. По его итогам политики и средства защиты корректируются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Основные этапы реализации системы защиты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452368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8082" y="1221799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Модель «Защита периметра» (</a:t>
            </a:r>
            <a:r>
              <a:rPr lang="ru-RU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Perimeter-based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Традиционная модель, где основные усилия сосредоточены на защите границ корпоративной сети. Эффективна для четко очерченных сетей, но уязвима для внутренних угроз и в эпоху облачных технологий.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Модель «Нулевого доверия» (Zero Trust):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Современная модель, исходящая из принципа «никому не доверяй, проверяй всегда». Каждый запрос на доступ к ресурсу проверяется, независимо от его источника (внутри или снаружи сети). Реализуется через строгую аутентификацию,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микросетевую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 сегментацию и контроль доступа на основе политик.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PT Sans" panose="020B0503020203020204" pitchFamily="34" charset="-52"/>
              <a:ea typeface="PT Sans" panose="020B0503020203020204" pitchFamily="34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Модели реализации защиты (практические подходы)      </a:t>
            </a:r>
          </a:p>
        </p:txBody>
      </p:sp>
    </p:spTree>
    <p:extLst>
      <p:ext uri="{BB962C8B-B14F-4D97-AF65-F5344CB8AC3E}">
        <p14:creationId xmlns:p14="http://schemas.microsoft.com/office/powerpoint/2010/main" val="2245649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Пример Zero Trust: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Сотрудник в офисе хочет получить доступ к бухгалтерской базе. Система запрашивает многофакторную аутентификацию, проверяет соответствие его устройства политикам безопасности (наличие антивируса, обновлений), и только затем предоставляет доступ только к нужным ему данным, а не ко всей системе.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Модели реализации защиты (практические подходы)      </a:t>
            </a:r>
          </a:p>
        </p:txBody>
      </p:sp>
    </p:spTree>
    <p:extLst>
      <p:ext uri="{BB962C8B-B14F-4D97-AF65-F5344CB8AC3E}">
        <p14:creationId xmlns:p14="http://schemas.microsoft.com/office/powerpoint/2010/main" val="3517808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A0A0EA-6FA2-7843-9B21-72B99FF8904A}"/>
              </a:ext>
            </a:extLst>
          </p:cNvPr>
          <p:cNvSpPr/>
          <p:nvPr/>
        </p:nvSpPr>
        <p:spPr>
          <a:xfrm>
            <a:off x="8316416" y="0"/>
            <a:ext cx="827584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23528" y="27525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00549F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  <a:p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Реализация информационной защиты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78" y="4465258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071" y="3886556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10330" y="477156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401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0330" y="4126704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12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05" y="166340"/>
            <a:ext cx="524805" cy="114107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C549E6-2713-4C5D-A8F1-3FC77E43A0AE}"/>
              </a:ext>
            </a:extLst>
          </p:cNvPr>
          <p:cNvSpPr/>
          <p:nvPr/>
        </p:nvSpPr>
        <p:spPr>
          <a:xfrm>
            <a:off x="8316416" y="1563638"/>
            <a:ext cx="827584" cy="1253279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5AC9C9-3F05-4978-B6BF-0B26C3CD8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07" y="1688061"/>
            <a:ext cx="432928" cy="9008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80C0A-BB9E-4578-AF43-29AC489BCE9B}"/>
              </a:ext>
            </a:extLst>
          </p:cNvPr>
          <p:cNvSpPr txBox="1"/>
          <p:nvPr/>
        </p:nvSpPr>
        <p:spPr>
          <a:xfrm>
            <a:off x="332058" y="1221798"/>
            <a:ext cx="7706430" cy="379822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Реализация информационной защиты — это динамичный управленческий и технологический процесс, основанный на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анализе рисков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, построении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эшелонированной обороны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и </a:t>
            </a: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постоянном цикле совершенствования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T Sans" panose="020B0503020203020204" pitchFamily="34" charset="-52"/>
                <a:ea typeface="PT Sans" panose="020B0503020203020204" pitchFamily="34" charset="-52"/>
              </a:rPr>
              <a:t>Успех зависит не только от выбора технологий (которые будут рассмотрены в последующих темах), но и от вовлеченности руководства, адекватных организационных мер и осознанного отношения к безопасности каждого сотрудника.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DD27E-D4F1-4864-894F-A2F9FC282E77}"/>
              </a:ext>
            </a:extLst>
          </p:cNvPr>
          <p:cNvSpPr txBox="1">
            <a:spLocks noChangeAspect="1"/>
          </p:cNvSpPr>
          <p:nvPr/>
        </p:nvSpPr>
        <p:spPr>
          <a:xfrm>
            <a:off x="338082" y="852467"/>
            <a:ext cx="4690387" cy="369332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r>
              <a:rPr lang="ru-RU" dirty="0">
                <a:solidFill>
                  <a:srgbClr val="00549F"/>
                </a:solidFill>
                <a:latin typeface="PT Sans Caption" panose="020B0603020203020204" pitchFamily="34" charset="-52"/>
                <a:ea typeface="PT Sans Caption" panose="020B0603020203020204" pitchFamily="34" charset="-52"/>
              </a:rPr>
              <a:t>Вывод </a:t>
            </a:r>
          </a:p>
        </p:txBody>
      </p:sp>
    </p:spTree>
    <p:extLst>
      <p:ext uri="{BB962C8B-B14F-4D97-AF65-F5344CB8AC3E}">
        <p14:creationId xmlns:p14="http://schemas.microsoft.com/office/powerpoint/2010/main" val="543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F2AF4D-5F99-0EED-09FC-A4BBC3C1D89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267744" y="373815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ru-RU" cap="all" dirty="0">
                <a:solidFill>
                  <a:schemeClr val="lt1"/>
                </a:solidFill>
                <a:latin typeface="PT Sans" panose="020B0503020203020204" pitchFamily="34" charset="-52"/>
              </a:rPr>
              <a:t>Информационная безопасность</a:t>
            </a:r>
          </a:p>
        </p:txBody>
      </p:sp>
      <p:sp>
        <p:nvSpPr>
          <p:cNvPr id="7" name="Google Shape;898;g89d9307d70_13_164"/>
          <p:cNvSpPr txBox="1"/>
          <p:nvPr/>
        </p:nvSpPr>
        <p:spPr>
          <a:xfrm>
            <a:off x="2267744" y="2355726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PT Sans" panose="020B0503020203020204" pitchFamily="34" charset="-52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67744" y="3363838"/>
            <a:ext cx="655272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Мулюков Рустем Ирекович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к.т.н. доцент ИТИС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начальник отдела, ДИС</a:t>
            </a:r>
          </a:p>
          <a:p>
            <a:endParaRPr lang="ru-RU" sz="120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RIMuljukov@kpfu.ru</a:t>
            </a:r>
          </a:p>
          <a:p>
            <a:r>
              <a:rPr lang="ru-RU" sz="1200" dirty="0">
                <a:solidFill>
                  <a:schemeClr val="bg1"/>
                </a:solidFill>
                <a:latin typeface="PT Sans" panose="020B0503020203020204" pitchFamily="34" charset="-52"/>
              </a:rPr>
              <a:t>+7 (843) 206 50 84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1F81E5-8EFA-4C91-9D37-F65076B7B4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DD35B2-0F3A-4D58-954D-7BD709B90A68}"/>
              </a:ext>
            </a:extLst>
          </p:cNvPr>
          <p:cNvSpPr/>
          <p:nvPr/>
        </p:nvSpPr>
        <p:spPr>
          <a:xfrm>
            <a:off x="8172400" y="0"/>
            <a:ext cx="971600" cy="5143500"/>
          </a:xfrm>
          <a:prstGeom prst="rect">
            <a:avLst/>
          </a:prstGeom>
          <a:solidFill>
            <a:srgbClr val="CC1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E62FD6-4DCB-4AEE-8C42-38874407AC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736" y="339502"/>
            <a:ext cx="432928" cy="9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 marL="457200" indent="-457200" algn="l">
          <a:buFont typeface="Arial" panose="020B0604020202020204" pitchFamily="34" charset="0"/>
          <a:buChar char="•"/>
          <a:defRPr sz="2000" b="1" dirty="0" smtClean="0">
            <a:solidFill>
              <a:schemeClr val="tx1">
                <a:lumMod val="75000"/>
                <a:lumOff val="25000"/>
              </a:schemeClr>
            </a:solidFill>
            <a:latin typeface="PT Sans" panose="020B0503020203020204" pitchFamily="34" charset="-52"/>
            <a:ea typeface="PT Sans" panose="020B0503020203020204" pitchFamily="34" charset="-5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9661</TotalTime>
  <Words>2798</Words>
  <Application>Microsoft Office PowerPoint</Application>
  <PresentationFormat>Экран (16:9)</PresentationFormat>
  <Paragraphs>424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PT Sans</vt:lpstr>
      <vt:lpstr>PT Sans Caption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Мулюков Рустем Ирекович</cp:lastModifiedBy>
  <cp:revision>179</cp:revision>
  <dcterms:created xsi:type="dcterms:W3CDTF">2020-07-15T10:53:07Z</dcterms:created>
  <dcterms:modified xsi:type="dcterms:W3CDTF">2026-02-20T06:21:47Z</dcterms:modified>
</cp:coreProperties>
</file>